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098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5029200" cy="5029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-548640"/>
            <a:ext cx="4114800" cy="4114800"/>
          </a:xfrm>
          <a:prstGeom prst="ellipse">
            <a:avLst/>
          </a:prstGeom>
          <a:solidFill>
            <a:srgbClr val="24508A"/>
          </a:solidFill>
          <a:ln w="12700">
            <a:solidFill>
              <a:srgbClr val="2450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8A020"/>
                </a:solidFill>
              </a:rPr>
              <a:t>MODULE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CDA"/>
                </a:solidFill>
              </a:rPr>
              <a:t>A Step-by-Step Guide with Real-Life Examples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243F6E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91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</a:rPr>
              <a:t>Z-Test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329184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243F6E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3291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</a:rPr>
              <a:t>T-Test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58184" y="329184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243F6E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3291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</a:rPr>
              <a:t>Chi-Square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85816" y="329184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243F6E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3291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</a:rPr>
              <a:t>ANOVA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13448" y="329184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243F6E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3291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</a:rPr>
              <a:t>P-Value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</a:rPr>
              <a:t>Easy Language  ·  Real Examples  ·  Formulas Included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Hypothesis Testing?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r>
              <a:rPr lang="en-US" sz="1500" b="1" dirty="0">
                <a:solidFill>
                  <a:srgbClr val="E8A020"/>
                </a:solidFill>
              </a:rPr>
              <a:t>Definition: </a:t>
            </a:r>
            <a:r>
              <a:rPr lang="en-US" sz="1600" b="1" dirty="0">
                <a:solidFill>
                  <a:srgbClr val="E8A020"/>
                </a:solidFill>
              </a:rPr>
              <a:t> </a:t>
            </a:r>
            <a:r>
              <a:rPr lang="en-US" sz="1600" b="1" dirty="0"/>
              <a:t>Hypothesis</a:t>
            </a:r>
            <a:r>
              <a:rPr lang="en-US" sz="1600" dirty="0"/>
              <a:t> is </a:t>
            </a:r>
            <a:r>
              <a:rPr lang="en-US" sz="1600"/>
              <a:t>a </a:t>
            </a:r>
            <a:r>
              <a:rPr lang="en-US" sz="1600" b="1" dirty="0"/>
              <a:t>S</a:t>
            </a:r>
            <a:r>
              <a:rPr lang="en-US" sz="1600" b="1"/>
              <a:t>tatement or Assumption</a:t>
            </a:r>
            <a:r>
              <a:rPr lang="en-US" sz="1600"/>
              <a:t> </a:t>
            </a:r>
            <a:r>
              <a:rPr lang="en-US" sz="1600" dirty="0"/>
              <a:t>that we want to test using data.</a:t>
            </a:r>
          </a:p>
          <a:p>
            <a:r>
              <a:rPr lang="en-US" sz="1600" dirty="0"/>
              <a:t>Hypothesis = A claim that we test using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2286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Make a Claim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237744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State what you want to test.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E.g. 'Average marks = 80'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51760" cy="2286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Collect Data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3017520"/>
            <a:ext cx="237744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Gather sample data from the population.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E.g. Marks of 50 students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2651760" cy="2286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03504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017520"/>
            <a:ext cx="237744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</a:rPr>
              <a:t>Use statistics to accept or reject the claim.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AABC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</a:rPr>
              <a:t>💡 Real Example: A coaching center claims students average 80 marks → You test this with 50 student scores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 (H₀) vs Alternative (H₁) Hypothesis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5943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H₀  Null Hypothesis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472C4"/>
                </a:solidFill>
              </a:rPr>
              <a:t>Meaning:
</a:t>
            </a:r>
            <a:r>
              <a:rPr lang="en-US" sz="1250" dirty="0">
                <a:solidFill>
                  <a:srgbClr val="0D1B3E"/>
                </a:solidFill>
              </a:rPr>
              <a:t>No change / No difference.
Original claim is TRUE.
</a:t>
            </a:r>
            <a:r>
              <a:rPr lang="en-US" sz="1250" b="1" dirty="0">
                <a:solidFill>
                  <a:srgbClr val="4472C4"/>
                </a:solidFill>
              </a:rPr>
              <a:t>Memory Trick:
</a:t>
            </a:r>
            <a:r>
              <a:rPr lang="en-US" sz="1250" i="1" dirty="0">
                <a:solidFill>
                  <a:srgbClr val="0D1B3E"/>
                </a:solidFill>
              </a:rPr>
              <a:t>"Status Quo" — nothing new
</a:t>
            </a:r>
            <a:r>
              <a:rPr lang="en-US" sz="1250" b="1" dirty="0">
                <a:solidFill>
                  <a:srgbClr val="4472C4"/>
                </a:solidFill>
              </a:rPr>
              <a:t>Examples:
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3840480" cy="8229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Coaching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Average = 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Medicine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Drug has NO effect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Machine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Working properly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A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60120"/>
            <a:ext cx="4114800" cy="594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960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H₁  Alternative Hypothesis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37760" y="1645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7A4A"/>
                </a:solidFill>
              </a:rPr>
              <a:t>Meaning:
</a:t>
            </a:r>
            <a:r>
              <a:rPr lang="en-US" sz="1250" dirty="0">
                <a:solidFill>
                  <a:srgbClr val="0D1B3E"/>
                </a:solidFill>
              </a:rPr>
              <a:t>There IS a change / difference.
The claim needs to be updated.
</a:t>
            </a:r>
            <a:r>
              <a:rPr lang="en-US" sz="1250" b="1" dirty="0">
                <a:solidFill>
                  <a:srgbClr val="1A7A4A"/>
                </a:solidFill>
              </a:rPr>
              <a:t>Memory Trick:
</a:t>
            </a:r>
            <a:r>
              <a:rPr lang="en-US" sz="1250" i="1" dirty="0">
                <a:solidFill>
                  <a:srgbClr val="0D1B3E"/>
                </a:solidFill>
              </a:rPr>
              <a:t>"Something changed!" — new evidence
</a:t>
            </a:r>
            <a:r>
              <a:rPr lang="en-US" sz="1250" b="1" dirty="0">
                <a:solidFill>
                  <a:srgbClr val="1A7A4A"/>
                </a:solidFill>
              </a:rPr>
              <a:t>Examples:
</a:t>
            </a:r>
            <a:endParaRPr lang="en-US" sz="125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971800"/>
          <a:ext cx="3840480" cy="8229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Coaching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Average ≠ 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Medicine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Drug WORKS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Machine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D1B3E"/>
                          </a:solidFill>
                        </a:rPr>
                        <a:t>Faulty / broken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F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160520" y="2606040"/>
            <a:ext cx="822960" cy="8229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16052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Hypothesis Tests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8346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Two-Tailed Test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1664208"/>
            <a:ext cx="914400" cy="914400"/>
          </a:xfrm>
          <a:prstGeom prst="ellipse">
            <a:avLst/>
          </a:prstGeom>
          <a:solidFill>
            <a:srgbClr val="EBF2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6B"/>
                </a:solidFill>
              </a:rPr>
              <a:t>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</a:rPr>
              <a:t>When to Use:
</a:t>
            </a:r>
            <a:r>
              <a:rPr lang="en-US" sz="1150" dirty="0">
                <a:solidFill>
                  <a:srgbClr val="0D1B3E"/>
                </a:solidFill>
              </a:rPr>
              <a:t>When checking NOT EQUAL (≠)
</a:t>
            </a:r>
            <a:r>
              <a:rPr lang="en-US" sz="1150" b="1" dirty="0">
                <a:solidFill>
                  <a:srgbClr val="1A3A6B"/>
                </a:solidFill>
              </a:rPr>
              <a:t>Formula:
</a:t>
            </a:r>
            <a:r>
              <a:rPr lang="en-US" sz="1150" i="1" dirty="0">
                <a:solidFill>
                  <a:srgbClr val="0D1B3E"/>
                </a:solidFill>
              </a:rPr>
              <a:t>H₁: μ ≠ μ₀
</a:t>
            </a:r>
            <a:r>
              <a:rPr lang="en-US" sz="1150" b="1" dirty="0">
                <a:solidFill>
                  <a:srgbClr val="1A3A6B"/>
                </a:solidFill>
              </a:rPr>
              <a:t>Example:
</a:t>
            </a:r>
            <a:r>
              <a:rPr lang="en-US" sz="1150" dirty="0">
                <a:solidFill>
                  <a:srgbClr val="0D1B3E"/>
                </a:solidFill>
              </a:rPr>
              <a:t>Marks ≠ 70 → could be higher OR lower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18688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05840"/>
            <a:ext cx="2834640" cy="5486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005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Left-Tailed Test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78808" y="1664208"/>
            <a:ext cx="914400" cy="914400"/>
          </a:xfrm>
          <a:prstGeom prst="ellipse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8808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2737"/>
                </a:solidFill>
              </a:rPr>
              <a:t>&lt;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28416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B2737"/>
                </a:solidFill>
              </a:rPr>
              <a:t>When to Use:
</a:t>
            </a:r>
            <a:r>
              <a:rPr lang="en-US" sz="1150" dirty="0">
                <a:solidFill>
                  <a:srgbClr val="0D1B3E"/>
                </a:solidFill>
              </a:rPr>
              <a:t>When checking LESS THAN (&lt;)
</a:t>
            </a:r>
            <a:r>
              <a:rPr lang="en-US" sz="1150" b="1" dirty="0">
                <a:solidFill>
                  <a:srgbClr val="6B2737"/>
                </a:solidFill>
              </a:rPr>
              <a:t>Formula:
</a:t>
            </a:r>
            <a:r>
              <a:rPr lang="en-US" sz="1150" i="1" dirty="0">
                <a:solidFill>
                  <a:srgbClr val="0D1B3E"/>
                </a:solidFill>
              </a:rPr>
              <a:t>H₁: μ &lt; μ₀
</a:t>
            </a:r>
            <a:r>
              <a:rPr lang="en-US" sz="1150" b="1" dirty="0">
                <a:solidFill>
                  <a:srgbClr val="6B2737"/>
                </a:solidFill>
              </a:rPr>
              <a:t>Example:
</a:t>
            </a:r>
            <a:r>
              <a:rPr lang="en-US" sz="1150" dirty="0">
                <a:solidFill>
                  <a:srgbClr val="0D1B3E"/>
                </a:solidFill>
              </a:rPr>
              <a:t>Battery life &lt; 10 hours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05840"/>
            <a:ext cx="2834640" cy="5486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005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Right-Tailed Test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23176" y="1664208"/>
            <a:ext cx="914400" cy="914400"/>
          </a:xfrm>
          <a:prstGeom prst="ellipse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16642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C38"/>
                </a:solidFill>
              </a:rPr>
              <a:t>&gt;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72784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When to Use:
</a:t>
            </a:r>
            <a:r>
              <a:rPr lang="en-US" sz="1150" dirty="0">
                <a:solidFill>
                  <a:srgbClr val="0D1B3E"/>
                </a:solidFill>
              </a:rPr>
              <a:t>When checking GREATER THAN (&gt;)
</a:t>
            </a:r>
            <a:r>
              <a:rPr lang="en-US" sz="1150" b="1" dirty="0">
                <a:solidFill>
                  <a:srgbClr val="1A5C38"/>
                </a:solidFill>
              </a:rPr>
              <a:t>Formula:
</a:t>
            </a:r>
            <a:r>
              <a:rPr lang="en-US" sz="1150" i="1" dirty="0">
                <a:solidFill>
                  <a:srgbClr val="0D1B3E"/>
                </a:solidFill>
              </a:rPr>
              <a:t>H₁: μ &gt; μ₀
</a:t>
            </a:r>
            <a:r>
              <a:rPr lang="en-US" sz="1150" b="1" dirty="0">
                <a:solidFill>
                  <a:srgbClr val="1A5C38"/>
                </a:solidFill>
              </a:rPr>
              <a:t>Example:
</a:t>
            </a:r>
            <a:r>
              <a:rPr lang="en-US" sz="1150" dirty="0">
                <a:solidFill>
                  <a:srgbClr val="0D1B3E"/>
                </a:solidFill>
              </a:rPr>
              <a:t>New method → marks &gt; old marks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I &amp; Type II Errors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A99"/>
                </a:solidFill>
              </a:rPr>
              <a:t>The Error Matrix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8503920" cy="2103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Test Says: REJECT H₀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Test Says: ACCEPT H₀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Reality: H₀ TRUE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❌ TYPE I ERROR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(False Positive)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α = significance level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✅ CORRECT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Decision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Reality: H₀ FALSE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✅ CORRECT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Decision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❌ TYPE II ERROR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(False Negative)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β = beta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611880"/>
            <a:ext cx="4160520" cy="132588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611880"/>
            <a:ext cx="3931920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Type I Error – False Alarm 🚨
</a:t>
            </a:r>
            <a:r>
              <a:rPr lang="en-US" sz="1200" dirty="0">
                <a:solidFill>
                  <a:srgbClr val="0D1B3E"/>
                </a:solidFill>
              </a:rPr>
              <a:t>Reject H₀ when it's actually TRUE
</a:t>
            </a:r>
            <a:r>
              <a:rPr lang="en-US" sz="1200" b="1" dirty="0">
                <a:solidFill>
                  <a:srgbClr val="C0392B"/>
                </a:solidFill>
              </a:rPr>
              <a:t>Example: </a:t>
            </a:r>
            <a:r>
              <a:rPr lang="en-US" sz="1200" dirty="0">
                <a:solidFill>
                  <a:srgbClr val="0D1B3E"/>
                </a:solidFill>
              </a:rPr>
              <a:t>A HEALTHY person's test says SICK.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3611880"/>
            <a:ext cx="4160520" cy="132588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3611880"/>
            <a:ext cx="3931920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Type II Error – Missed Detection 😶
</a:t>
            </a:r>
            <a:r>
              <a:rPr lang="en-US" sz="1200" dirty="0">
                <a:solidFill>
                  <a:srgbClr val="0D1B3E"/>
                </a:solidFill>
              </a:rPr>
              <a:t>Accept H₀ when it's actually FALSE
</a:t>
            </a:r>
            <a:r>
              <a:rPr lang="en-US" sz="1200" b="1" dirty="0">
                <a:solidFill>
                  <a:srgbClr val="C0392B"/>
                </a:solidFill>
              </a:rPr>
              <a:t>Example: </a:t>
            </a:r>
            <a:r>
              <a:rPr lang="en-US" sz="1200" dirty="0">
                <a:solidFill>
                  <a:srgbClr val="0D1B3E"/>
                </a:solidFill>
              </a:rPr>
              <a:t>A SICK person's test says HEALTHY.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Level (α) &amp; P-Value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Significance Level – α (Alpha)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737360"/>
            <a:ext cx="1920240" cy="1920240"/>
          </a:xfrm>
          <a:prstGeom prst="ellipse">
            <a:avLst/>
          </a:prstGeom>
          <a:solidFill>
            <a:srgbClr val="FFF3D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7373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7800"/>
                </a:solidFill>
              </a:rPr>
              <a:t>α = 0.05
</a:t>
            </a:r>
            <a:r>
              <a:rPr lang="en-US" sz="1300" dirty="0">
                <a:solidFill>
                  <a:srgbClr val="6B7A99"/>
                </a:solidFill>
              </a:rPr>
              <a:t>(5% Risk)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800"/>
                </a:solidFill>
              </a:rPr>
              <a:t>What it means:
</a:t>
            </a:r>
            <a:r>
              <a:rPr lang="en-US" sz="1150" dirty="0">
                <a:solidFill>
                  <a:srgbClr val="0D1B3E"/>
                </a:solidFill>
              </a:rPr>
              <a:t>We allow 5% chance that our decision is wrong.
</a:t>
            </a:r>
            <a:r>
              <a:rPr lang="en-US" sz="1150" b="1" dirty="0">
                <a:solidFill>
                  <a:srgbClr val="C87800"/>
                </a:solidFill>
              </a:rPr>
              <a:t>Real Example:
</a:t>
            </a:r>
            <a:r>
              <a:rPr lang="en-US" sz="1150" dirty="0">
                <a:solidFill>
                  <a:srgbClr val="0D1B3E"/>
                </a:solidFill>
              </a:rPr>
              <a:t>In court, judge needs 95% proof to declare guilty. That 5% allowed risk = α = 0.05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P-Value – Strength of Evidence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3E"/>
                </a:solidFill>
              </a:rPr>
              <a:t>P-value tells how strong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B3E"/>
                </a:solidFill>
              </a:rPr>
              <a:t>the evidence is AGAINST H₀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42316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≤ 0.05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7A4A"/>
                          </a:solidFill>
                        </a:rPr>
                        <a:t>Reject H₀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Strong evidence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</a:rPr>
                        <a:t>&gt; 0.05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Accept H₀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Weak evidence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892040" y="34290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Example 1: </a:t>
            </a:r>
            <a:r>
              <a:rPr lang="en-US" sz="1200" dirty="0">
                <a:solidFill>
                  <a:srgbClr val="0D1B3E"/>
                </a:solidFill>
              </a:rPr>
              <a:t>p = 0.01 → Strong evidence → Reject H₀
</a:t>
            </a:r>
            <a:r>
              <a:rPr lang="en-US" sz="1200" b="1" dirty="0">
                <a:solidFill>
                  <a:srgbClr val="0D7377"/>
                </a:solidFill>
              </a:rPr>
              <a:t>Example 2: </a:t>
            </a:r>
            <a:r>
              <a:rPr lang="en-US" sz="1200" dirty="0">
                <a:solidFill>
                  <a:srgbClr val="0D1B3E"/>
                </a:solidFill>
              </a:rPr>
              <a:t>p = 0.40 → Weak evidence → Accept H₀
</a:t>
            </a:r>
            <a:r>
              <a:rPr lang="en-US" sz="1200" b="1" dirty="0">
                <a:solidFill>
                  <a:srgbClr val="0D7377"/>
                </a:solidFill>
              </a:rPr>
              <a:t>Rule: </a:t>
            </a:r>
            <a:r>
              <a:rPr lang="en-US" sz="1200" dirty="0">
                <a:solidFill>
                  <a:srgbClr val="0D1B3E"/>
                </a:solidFill>
              </a:rPr>
              <a:t>If p ≤ α → Reject H₀ (Result is significant!)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Z-Test vs T-Test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943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Z-Test  (Large Sample)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When to Use:
</a:t>
            </a:r>
            <a:r>
              <a:rPr lang="en-US" sz="1200" dirty="0">
                <a:solidFill>
                  <a:srgbClr val="0D1B3E"/>
                </a:solidFill>
              </a:rPr>
              <a:t>• Sample size &gt; 30
• Population std deviation (σ) is known
</a:t>
            </a:r>
            <a:r>
              <a:rPr lang="en-US" sz="1200" b="1" dirty="0">
                <a:solidFill>
                  <a:srgbClr val="4472C4"/>
                </a:solidFill>
              </a:rPr>
              <a:t>Formula:
</a:t>
            </a:r>
            <a:r>
              <a:rPr lang="en-US" sz="1300" i="1" dirty="0">
                <a:solidFill>
                  <a:srgbClr val="0D1B3E"/>
                </a:solidFill>
              </a:rPr>
              <a:t>Z = (x̄ - μ) / (σ / √n)
</a:t>
            </a:r>
            <a:r>
              <a:rPr lang="en-US" sz="1200" b="1" dirty="0">
                <a:solidFill>
                  <a:srgbClr val="4472C4"/>
                </a:solidFill>
              </a:rPr>
              <a:t>Where:
</a:t>
            </a:r>
            <a:r>
              <a:rPr lang="en-US" sz="1200" dirty="0">
                <a:solidFill>
                  <a:srgbClr val="0D1B3E"/>
                </a:solidFill>
              </a:rPr>
              <a:t>x̄ = sample mean,  μ = population mean
σ = std deviation,  n = sample size
</a:t>
            </a:r>
            <a:r>
              <a:rPr lang="en-US" sz="1200" b="1" dirty="0">
                <a:solidFill>
                  <a:srgbClr val="4472C4"/>
                </a:solidFill>
              </a:rPr>
              <a:t>Real Example:
</a:t>
            </a:r>
            <a:r>
              <a:rPr lang="en-US" sz="1200" dirty="0">
                <a:solidFill>
                  <a:srgbClr val="0D1B3E"/>
                </a:solidFill>
              </a:rPr>
              <a:t>Factory claims avg packet weight = 1 kg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B3E"/>
                </a:solidFill>
              </a:rPr>
              <a:t>You check 100 packets → Use Z-Test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T-Test  (Small Sample)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</a:rPr>
              <a:t>When to Use:
</a:t>
            </a:r>
            <a:r>
              <a:rPr lang="en-US" sz="1200" dirty="0">
                <a:solidFill>
                  <a:srgbClr val="0D1B3E"/>
                </a:solidFill>
              </a:rPr>
              <a:t>• Sample size &lt; 30
• Population std deviation (σ) NOT known
</a:t>
            </a:r>
            <a:r>
              <a:rPr lang="en-US" sz="1200" b="1" dirty="0">
                <a:solidFill>
                  <a:srgbClr val="7B2FBE"/>
                </a:solidFill>
              </a:rPr>
              <a:t>Formula:
</a:t>
            </a:r>
            <a:r>
              <a:rPr lang="en-US" sz="1300" i="1" dirty="0">
                <a:solidFill>
                  <a:srgbClr val="0D1B3E"/>
                </a:solidFill>
              </a:rPr>
              <a:t>t = (x̄ - μ) / (s / √n)
</a:t>
            </a:r>
            <a:r>
              <a:rPr lang="en-US" sz="1200" b="1" dirty="0">
                <a:solidFill>
                  <a:srgbClr val="7B2FBE"/>
                </a:solidFill>
              </a:rPr>
              <a:t>Where:
</a:t>
            </a:r>
            <a:r>
              <a:rPr lang="en-US" sz="1200" dirty="0">
                <a:solidFill>
                  <a:srgbClr val="0D1B3E"/>
                </a:solidFill>
              </a:rPr>
              <a:t>x̄ = sample mean,  μ = population mean
s = sample std deviation,  n = sample size
</a:t>
            </a:r>
            <a:r>
              <a:rPr lang="en-US" sz="1200" b="1" dirty="0">
                <a:solidFill>
                  <a:srgbClr val="7B2FBE"/>
                </a:solidFill>
              </a:rPr>
              <a:t>Real Example:
</a:t>
            </a:r>
            <a:r>
              <a:rPr lang="en-US" sz="1200" dirty="0">
                <a:solidFill>
                  <a:srgbClr val="0D1B3E"/>
                </a:solidFill>
              </a:rPr>
              <a:t>You test marks of only 20 students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B3E"/>
                </a:solidFill>
              </a:rPr>
              <a:t>→ Use T-Test (n &lt; 30)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7428" y="2560320"/>
            <a:ext cx="1771831" cy="1188720"/>
          </a:xfrm>
          <a:prstGeom prst="rect">
            <a:avLst/>
          </a:prstGeom>
          <a:solidFill>
            <a:srgbClr val="FFF9E8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37744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7800"/>
                </a:solidFill>
              </a:rPr>
              <a:t>Quick Rule:
</a:t>
            </a:r>
            <a:r>
              <a:rPr lang="en-US" sz="1250" dirty="0">
                <a:solidFill>
                  <a:srgbClr val="0D1B3E"/>
                </a:solidFill>
              </a:rPr>
              <a:t>n &gt; 30 → Z-Test
n &lt; 30 → T-Test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Chi-Square Test &amp; ANOVA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χ²  Chi-Square 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Used For:
</a:t>
            </a:r>
            <a:r>
              <a:rPr lang="en-US" sz="1200" dirty="0">
                <a:solidFill>
                  <a:srgbClr val="0D1B3E"/>
                </a:solidFill>
              </a:rPr>
              <a:t>Categorical (group/category) data
Test if observed data matches expected
</a:t>
            </a:r>
            <a:r>
              <a:rPr lang="en-US" sz="1200" b="1" dirty="0">
                <a:solidFill>
                  <a:srgbClr val="C0392B"/>
                </a:solidFill>
              </a:rPr>
              <a:t>Formula:
</a:t>
            </a:r>
            <a:r>
              <a:rPr lang="en-US" sz="1300" i="1" dirty="0">
                <a:solidFill>
                  <a:srgbClr val="0D1B3E"/>
                </a:solidFill>
              </a:rPr>
              <a:t>χ² = Σ [ (O - E)² / E ]
</a:t>
            </a:r>
            <a:r>
              <a:rPr lang="en-US" sz="1200" dirty="0">
                <a:solidFill>
                  <a:srgbClr val="0D1B3E"/>
                </a:solidFill>
              </a:rPr>
              <a:t>Where: O = Observed, E = Expected
</a:t>
            </a:r>
            <a:r>
              <a:rPr lang="en-US" sz="1200" b="1" dirty="0">
                <a:solidFill>
                  <a:srgbClr val="C0392B"/>
                </a:solidFill>
              </a:rPr>
              <a:t>Real Example:
</a:t>
            </a:r>
            <a:r>
              <a:rPr lang="en-US" sz="1200" dirty="0">
                <a:solidFill>
                  <a:srgbClr val="0D1B3E"/>
                </a:solidFill>
              </a:rPr>
              <a:t>Expected: 50 boys, 50 girls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B3E"/>
                </a:solidFill>
              </a:rPr>
              <a:t>Observed: 40 boys, 60 girls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B3E"/>
                </a:solidFill>
              </a:rPr>
              <a:t>Is this difference significant? → Chi-Square!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  ANOVA Test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35400"/>
                </a:solidFill>
              </a:rPr>
              <a:t>Used For:
</a:t>
            </a:r>
            <a:r>
              <a:rPr lang="en-US" sz="1200" dirty="0">
                <a:solidFill>
                  <a:srgbClr val="0D1B3E"/>
                </a:solidFill>
              </a:rPr>
              <a:t>Comparing 3 or more groups
(Analysis of Variance)
</a:t>
            </a:r>
            <a:r>
              <a:rPr lang="en-US" sz="1200" b="1" dirty="0">
                <a:solidFill>
                  <a:srgbClr val="D35400"/>
                </a:solidFill>
              </a:rPr>
              <a:t>Formula:
</a:t>
            </a:r>
            <a:r>
              <a:rPr lang="en-US" sz="1200" i="1" dirty="0">
                <a:solidFill>
                  <a:srgbClr val="0D1B3E"/>
                </a:solidFill>
              </a:rPr>
              <a:t>F = Variance Between Groups /
      Variance Within Groups
</a:t>
            </a:r>
            <a:r>
              <a:rPr lang="en-US" sz="1200" dirty="0">
                <a:solidFill>
                  <a:srgbClr val="0D1B3E"/>
                </a:solidFill>
              </a:rPr>
              <a:t>Rule: If F is large → Groups are different
</a:t>
            </a:r>
            <a:r>
              <a:rPr lang="en-US" sz="1200" b="1" dirty="0">
                <a:solidFill>
                  <a:srgbClr val="D35400"/>
                </a:solidFill>
              </a:rPr>
              <a:t>Real Example:
</a:t>
            </a:r>
            <a:r>
              <a:rPr lang="en-US" sz="1200" dirty="0">
                <a:solidFill>
                  <a:srgbClr val="0D1B3E"/>
                </a:solidFill>
              </a:rPr>
              <a:t>Compare marks of students from: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B3E"/>
                </a:solidFill>
              </a:rPr>
              <a:t>School A, School B, School 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B3E"/>
                </a:solidFill>
              </a:rPr>
              <a:t>Are all averages equal? → ANOVA!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2697480"/>
            <a:ext cx="1005840" cy="10058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926080"/>
            <a:ext cx="3200400" cy="32004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841248"/>
            <a:ext cx="2743200" cy="411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17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Concept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What it means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3E"/>
                          </a:solidFill>
                        </a:rPr>
                        <a:t>Quick Memory Trick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H₀  Null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Original claim is TRUE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"No Change"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H₁  Alternative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There IS a change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"Something Changed"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α (Alpha)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Risk allowed (usually 5%)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"How wrong can we be?"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Strength of evidence vs H₀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"Small p → Reject H₀"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Type I Error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Reject H₀ when it's TRUE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"False Alarm"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Type II Error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Accept H₀ when it's FALSE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"Missed Detection"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Z-Test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Large sample (n &gt; 30), σ known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"Big Group → Z"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T-Test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Small sample (n &lt; 30), σ unknown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"Small Group → T"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Chi-Square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Category data comparison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"Groups vs Expected"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BCDA"/>
                          </a:solidFill>
                        </a:rPr>
                        <a:t>ANOVA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Compare 3+ group means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E8A020"/>
                          </a:solidFill>
                        </a:rPr>
                        <a:t>"3 or more? → F-test"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162540"/>
          </a:solidFill>
          <a:ln w="12700">
            <a:solidFill>
              <a:srgbClr val="16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3657600"/>
          </a:xfrm>
          <a:prstGeom prst="ellipse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02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Nutshell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777240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</a:rPr>
              <a:t>"Hypothesis testing is a method to decide whether a claim about data is true or false — using evidence, not guesses."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3159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CDA"/>
                </a:solidFill>
              </a:rPr>
              <a:t>State H₀ &amp; H₁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3995928"/>
            <a:ext cx="749808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167128" y="374904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38528" y="43159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CDA"/>
                </a:solidFill>
              </a:rPr>
              <a:t>Set α (0.05)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70048" y="3995928"/>
            <a:ext cx="749808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831336" y="374904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02736" y="43159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CDA"/>
                </a:solidFill>
              </a:rPr>
              <a:t>Calculate Test Stat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34256" y="3995928"/>
            <a:ext cx="749808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95544" y="374904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95544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66944" y="43159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CDA"/>
                </a:solidFill>
              </a:rPr>
              <a:t>Find P-value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98464" y="3995928"/>
            <a:ext cx="749808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159752" y="374904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31152" y="43159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CDA"/>
                </a:solidFill>
              </a:rPr>
              <a:t>Reject or Accept H₀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1177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Testing</dc:title>
  <dc:subject>PptxGenJS Presentation</dc:subject>
  <dc:creator>Statistics Module 8</dc:creator>
  <cp:lastModifiedBy>Srajan shukla</cp:lastModifiedBy>
  <cp:revision>7</cp:revision>
  <dcterms:created xsi:type="dcterms:W3CDTF">2026-04-04T07:36:28Z</dcterms:created>
  <dcterms:modified xsi:type="dcterms:W3CDTF">2026-04-05T11:58:46Z</dcterms:modified>
</cp:coreProperties>
</file>