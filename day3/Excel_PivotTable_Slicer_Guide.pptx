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97A7"/>
          </a:solidFill>
          <a:ln/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73152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4" name="Shape 2"/>
          <p:cNvSpPr/>
          <p:nvPr/>
        </p:nvSpPr>
        <p:spPr>
          <a:xfrm>
            <a:off x="411480" y="822960"/>
            <a:ext cx="6217920" cy="1554480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68680"/>
            <a:ext cx="6035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Pivot Tables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Slicers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57200" y="251460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Sales Data Effortlessly — No Formulas Needed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3154680"/>
            <a:ext cx="3108960" cy="384048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3172968"/>
            <a:ext cx="30723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Dataset: Sales Orders (16 Columns)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949440" y="457200"/>
            <a:ext cx="2011680" cy="45720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995160" y="54864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Columns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059168" y="987552"/>
            <a:ext cx="1828800" cy="210312"/>
          </a:xfrm>
          <a:prstGeom prst="rect">
            <a:avLst/>
          </a:prstGeom>
          <a:solidFill>
            <a:srgbClr val="1976D2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068312" y="987552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Order_Date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7059168" y="1239012"/>
            <a:ext cx="1828800" cy="210312"/>
          </a:xfrm>
          <a:prstGeom prst="rect">
            <a:avLst/>
          </a:prstGeom>
          <a:solidFill>
            <a:srgbClr val="1565C0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068312" y="1239012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7059168" y="1490472"/>
            <a:ext cx="1828800" cy="210312"/>
          </a:xfrm>
          <a:prstGeom prst="rect">
            <a:avLst/>
          </a:prstGeom>
          <a:solidFill>
            <a:srgbClr val="1976D2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68312" y="1490472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Aging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7059168" y="1741932"/>
            <a:ext cx="1828800" cy="210312"/>
          </a:xfrm>
          <a:prstGeom prst="rect">
            <a:avLst/>
          </a:prstGeom>
          <a:solidFill>
            <a:srgbClr val="1565C0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68312" y="1741932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Customer_Id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7059168" y="1993392"/>
            <a:ext cx="1828800" cy="210312"/>
          </a:xfrm>
          <a:prstGeom prst="rect">
            <a:avLst/>
          </a:prstGeom>
          <a:solidFill>
            <a:srgbClr val="1976D2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68312" y="1993392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7059168" y="2244852"/>
            <a:ext cx="1828800" cy="210312"/>
          </a:xfrm>
          <a:prstGeom prst="rect">
            <a:avLst/>
          </a:prstGeom>
          <a:solidFill>
            <a:srgbClr val="1565C0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068312" y="2244852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Device_Type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059168" y="2496312"/>
            <a:ext cx="1828800" cy="210312"/>
          </a:xfrm>
          <a:prstGeom prst="rect">
            <a:avLst/>
          </a:prstGeom>
          <a:solidFill>
            <a:srgbClr val="1976D2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068312" y="2496312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Login_Type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7059168" y="2747772"/>
            <a:ext cx="1828800" cy="210312"/>
          </a:xfrm>
          <a:prstGeom prst="rect">
            <a:avLst/>
          </a:prstGeom>
          <a:solidFill>
            <a:srgbClr val="1565C0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068312" y="2747772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Product_Category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7059168" y="2999232"/>
            <a:ext cx="1828800" cy="210312"/>
          </a:xfrm>
          <a:prstGeom prst="rect">
            <a:avLst/>
          </a:prstGeom>
          <a:solidFill>
            <a:srgbClr val="1976D2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068312" y="2999232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7059168" y="3250692"/>
            <a:ext cx="1828800" cy="210312"/>
          </a:xfrm>
          <a:prstGeom prst="rect">
            <a:avLst/>
          </a:prstGeom>
          <a:solidFill>
            <a:srgbClr val="1565C0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068312" y="3250692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7059168" y="3502152"/>
            <a:ext cx="1828800" cy="210312"/>
          </a:xfrm>
          <a:prstGeom prst="rect">
            <a:avLst/>
          </a:prstGeom>
          <a:solidFill>
            <a:srgbClr val="1976D2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068312" y="3502152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Quantity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7059168" y="3753612"/>
            <a:ext cx="1828800" cy="210312"/>
          </a:xfrm>
          <a:prstGeom prst="rect">
            <a:avLst/>
          </a:prstGeom>
          <a:solidFill>
            <a:srgbClr val="1565C0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068312" y="3753612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7059168" y="4005072"/>
            <a:ext cx="1828800" cy="210312"/>
          </a:xfrm>
          <a:prstGeom prst="rect">
            <a:avLst/>
          </a:prstGeom>
          <a:solidFill>
            <a:srgbClr val="1976D2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068312" y="4005072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7059168" y="4256532"/>
            <a:ext cx="1828800" cy="210312"/>
          </a:xfrm>
          <a:prstGeom prst="rect">
            <a:avLst/>
          </a:prstGeom>
          <a:solidFill>
            <a:srgbClr val="1565C0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068312" y="4256532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Shipping_Cost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7059168" y="4507992"/>
            <a:ext cx="1828800" cy="210312"/>
          </a:xfrm>
          <a:prstGeom prst="rect">
            <a:avLst/>
          </a:prstGeom>
          <a:solidFill>
            <a:srgbClr val="1976D2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068312" y="4507992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Order_Priority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7059168" y="4759452"/>
            <a:ext cx="1828800" cy="210312"/>
          </a:xfrm>
          <a:prstGeom prst="rect">
            <a:avLst/>
          </a:prstGeom>
          <a:solidFill>
            <a:srgbClr val="1565C0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068312" y="4759452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Payment_Method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097A7"/>
          </a:solidFill>
          <a:ln/>
        </p:spPr>
      </p:sp>
      <p:sp>
        <p:nvSpPr>
          <p:cNvPr id="44" name="Text 42"/>
          <p:cNvSpPr/>
          <p:nvPr/>
        </p:nvSpPr>
        <p:spPr>
          <a:xfrm>
            <a:off x="0" y="4901184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Beginner-Friendly Guide  |  With Real Examples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9144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PIVOT TABLE?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097A7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868680"/>
            <a:ext cx="8595360" cy="914400"/>
          </a:xfrm>
          <a:prstGeom prst="rect">
            <a:avLst/>
          </a:prstGeom>
          <a:solidFill>
            <a:srgbClr val="E0F7FA"/>
          </a:solidFill>
          <a:ln w="25400">
            <a:solidFill>
              <a:srgbClr val="0097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1480" y="914400"/>
            <a:ext cx="8321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A Pivot Table is a built-in Excel tool that summarises, groups, and analyses large datasets in seconds — by simply dragging and dropping columns. No complex formulas needed!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4320" y="1993392"/>
            <a:ext cx="274320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F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993392"/>
            <a:ext cx="2743200" cy="73152"/>
          </a:xfrm>
          <a:prstGeom prst="rect">
            <a:avLst/>
          </a:prstGeom>
          <a:solidFill>
            <a:srgbClr val="0097A7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21031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📋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74320" y="269748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84048" y="3090672"/>
            <a:ext cx="25237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Thousands of rows of order records — hard to read, hard to understand.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154680" y="1993392"/>
            <a:ext cx="274320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F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154680" y="1993392"/>
            <a:ext cx="2743200" cy="73152"/>
          </a:xfrm>
          <a:prstGeom prst="rect">
            <a:avLst/>
          </a:prstGeom>
          <a:solidFill>
            <a:srgbClr val="0097A7"/>
          </a:solidFill>
          <a:ln/>
        </p:spPr>
      </p:sp>
      <p:sp>
        <p:nvSpPr>
          <p:cNvPr id="14" name="Text 12"/>
          <p:cNvSpPr/>
          <p:nvPr/>
        </p:nvSpPr>
        <p:spPr>
          <a:xfrm>
            <a:off x="3154680" y="21031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🔄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3154680" y="269748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Pivot Table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264408" y="3090672"/>
            <a:ext cx="25237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groups data by Category, Month, Region etc. and shows totals.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035040" y="1993392"/>
            <a:ext cx="274320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F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035040" y="1993392"/>
            <a:ext cx="2743200" cy="73152"/>
          </a:xfrm>
          <a:prstGeom prst="rect">
            <a:avLst/>
          </a:prstGeom>
          <a:solidFill>
            <a:srgbClr val="0097A7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21031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📊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6035040" y="269748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Insight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144768" y="3090672"/>
            <a:ext cx="25237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which product earned the most profit in just a few clicks.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990088" y="3108960"/>
            <a:ext cx="73152" cy="0"/>
          </a:xfrm>
          <a:prstGeom prst="rect">
            <a:avLst/>
          </a:prstGeom>
          <a:noFill/>
          <a:ln w="12700">
            <a:solidFill>
              <a:srgbClr val="0097A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870448" y="3108960"/>
            <a:ext cx="73152" cy="0"/>
          </a:xfrm>
          <a:prstGeom prst="rect">
            <a:avLst/>
          </a:prstGeom>
          <a:noFill/>
          <a:ln w="12700">
            <a:solidFill>
              <a:srgbClr val="0097A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25" name="Text 23"/>
          <p:cNvSpPr/>
          <p:nvPr/>
        </p:nvSpPr>
        <p:spPr>
          <a:xfrm>
            <a:off x="0" y="4901184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 of 4  —  Introduction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9144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USE A PIVOT TABLE?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FFB300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868680"/>
            <a:ext cx="2743200" cy="1737360"/>
          </a:xfrm>
          <a:prstGeom prst="rect">
            <a:avLst/>
          </a:prstGeom>
          <a:solidFill>
            <a:srgbClr val="122B45"/>
          </a:solidFill>
          <a:ln w="12700">
            <a:solidFill>
              <a:srgbClr val="0097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68680"/>
            <a:ext cx="73152" cy="1737360"/>
          </a:xfrm>
          <a:prstGeom prst="rect">
            <a:avLst/>
          </a:prstGeom>
          <a:solidFill>
            <a:srgbClr val="0097A7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9784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⚡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411480" y="1527048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11480" y="187452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Summarise 50,000 rows of sales records in under 10 seconds.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154680" y="868680"/>
            <a:ext cx="2743200" cy="1737360"/>
          </a:xfrm>
          <a:prstGeom prst="rect">
            <a:avLst/>
          </a:prstGeom>
          <a:solidFill>
            <a:srgbClr val="122B45"/>
          </a:solidFill>
          <a:ln w="12700">
            <a:solidFill>
              <a:srgbClr val="0097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54680" y="868680"/>
            <a:ext cx="73152" cy="1737360"/>
          </a:xfrm>
          <a:prstGeom prst="rect">
            <a:avLst/>
          </a:prstGeom>
          <a:solidFill>
            <a:srgbClr val="0097A7"/>
          </a:solidFill>
          <a:ln/>
        </p:spPr>
      </p:sp>
      <p:sp>
        <p:nvSpPr>
          <p:cNvPr id="12" name="Text 10"/>
          <p:cNvSpPr/>
          <p:nvPr/>
        </p:nvSpPr>
        <p:spPr>
          <a:xfrm>
            <a:off x="3291840" y="9784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🚫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291840" y="1527048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Formulas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291840" y="187452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SUMIF, VLOOKUP, or complex functions — just drag &amp; drop.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35040" y="868680"/>
            <a:ext cx="2743200" cy="1737360"/>
          </a:xfrm>
          <a:prstGeom prst="rect">
            <a:avLst/>
          </a:prstGeom>
          <a:solidFill>
            <a:srgbClr val="122B45"/>
          </a:solidFill>
          <a:ln w="12700">
            <a:solidFill>
              <a:srgbClr val="0097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35040" y="868680"/>
            <a:ext cx="73152" cy="1737360"/>
          </a:xfrm>
          <a:prstGeom prst="rect">
            <a:avLst/>
          </a:prstGeom>
          <a:solidFill>
            <a:srgbClr val="0097A7"/>
          </a:solidFill>
          <a:ln/>
        </p:spPr>
      </p:sp>
      <p:sp>
        <p:nvSpPr>
          <p:cNvPr id="17" name="Text 15"/>
          <p:cNvSpPr/>
          <p:nvPr/>
        </p:nvSpPr>
        <p:spPr>
          <a:xfrm>
            <a:off x="6172200" y="9784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🔄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172200" y="1527048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172200" y="187452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 data instantly when new orders are added to the sheet.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2880360"/>
            <a:ext cx="2743200" cy="1737360"/>
          </a:xfrm>
          <a:prstGeom prst="rect">
            <a:avLst/>
          </a:prstGeom>
          <a:solidFill>
            <a:srgbClr val="122B45"/>
          </a:solidFill>
          <a:ln w="12700">
            <a:solidFill>
              <a:srgbClr val="0097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2880360"/>
            <a:ext cx="73152" cy="1737360"/>
          </a:xfrm>
          <a:prstGeom prst="rect">
            <a:avLst/>
          </a:prstGeom>
          <a:solidFill>
            <a:srgbClr val="0097A7"/>
          </a:solidFill>
          <a:ln/>
        </p:spPr>
      </p:sp>
      <p:sp>
        <p:nvSpPr>
          <p:cNvPr id="22" name="Text 20"/>
          <p:cNvSpPr/>
          <p:nvPr/>
        </p:nvSpPr>
        <p:spPr>
          <a:xfrm>
            <a:off x="411480" y="29900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🎯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411480" y="3538728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11480" y="388620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Rearrange rows/columns anytime to answer different questions.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154680" y="2880360"/>
            <a:ext cx="2743200" cy="1737360"/>
          </a:xfrm>
          <a:prstGeom prst="rect">
            <a:avLst/>
          </a:prstGeom>
          <a:solidFill>
            <a:srgbClr val="122B45"/>
          </a:solidFill>
          <a:ln w="12700">
            <a:solidFill>
              <a:srgbClr val="0097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154680" y="2880360"/>
            <a:ext cx="73152" cy="1737360"/>
          </a:xfrm>
          <a:prstGeom prst="rect">
            <a:avLst/>
          </a:prstGeom>
          <a:solidFill>
            <a:srgbClr val="0097A7"/>
          </a:solidFill>
          <a:ln/>
        </p:spPr>
      </p:sp>
      <p:sp>
        <p:nvSpPr>
          <p:cNvPr id="27" name="Text 25"/>
          <p:cNvSpPr/>
          <p:nvPr/>
        </p:nvSpPr>
        <p:spPr>
          <a:xfrm>
            <a:off x="3291840" y="29900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📈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3291840" y="3538728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Ready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291840" y="388620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charts directly from your pivot for executive reports.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035040" y="2880360"/>
            <a:ext cx="2743200" cy="1737360"/>
          </a:xfrm>
          <a:prstGeom prst="rect">
            <a:avLst/>
          </a:prstGeom>
          <a:solidFill>
            <a:srgbClr val="122B45"/>
          </a:solidFill>
          <a:ln w="12700">
            <a:solidFill>
              <a:srgbClr val="0097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035040" y="2880360"/>
            <a:ext cx="73152" cy="1737360"/>
          </a:xfrm>
          <a:prstGeom prst="rect">
            <a:avLst/>
          </a:prstGeom>
          <a:solidFill>
            <a:srgbClr val="0097A7"/>
          </a:solidFill>
          <a:ln/>
        </p:spPr>
      </p:sp>
      <p:sp>
        <p:nvSpPr>
          <p:cNvPr id="32" name="Text 30"/>
          <p:cNvSpPr/>
          <p:nvPr/>
        </p:nvSpPr>
        <p:spPr>
          <a:xfrm>
            <a:off x="6172200" y="29900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🔍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6172200" y="3538728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Drill Down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172200" y="388620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any cell to see the raw rows behind the summary number.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6" name="Text 34"/>
          <p:cNvSpPr/>
          <p:nvPr/>
        </p:nvSpPr>
        <p:spPr>
          <a:xfrm>
            <a:off x="0" y="4901184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of 4  —  Why Pivot Tables?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9144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CREATE A PIVOT TABLE  —  Step by Step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097A7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822960"/>
            <a:ext cx="859536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CF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47472" y="914400"/>
            <a:ext cx="475488" cy="475488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9144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60120" y="877824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Your Data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60120" y="1170432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anywhere inside your Sales table (Order_Date → Payment_Method). Excel detects the range automatically.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1627632"/>
            <a:ext cx="8595360" cy="694944"/>
          </a:xfrm>
          <a:prstGeom prst="rect">
            <a:avLst/>
          </a:prstGeom>
          <a:solidFill>
            <a:srgbClr val="E3F2FD"/>
          </a:solidFill>
          <a:ln w="12700">
            <a:solidFill>
              <a:srgbClr val="CF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47472" y="1719072"/>
            <a:ext cx="475488" cy="475488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" y="17190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60120" y="168249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→ Pivot Table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60120" y="1975104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to Insert tab → Click "PivotTable" → Choose "New Worksheet" → Click OK.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2432304"/>
            <a:ext cx="859536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CF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47472" y="2523744"/>
            <a:ext cx="475488" cy="475488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" y="252374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60120" y="248716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List Appears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60120" y="2779776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panel on the right shows all 16 columns as fields you can drag into 4 areas.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3236976"/>
            <a:ext cx="8595360" cy="694944"/>
          </a:xfrm>
          <a:prstGeom prst="rect">
            <a:avLst/>
          </a:prstGeom>
          <a:solidFill>
            <a:srgbClr val="E3F2FD"/>
          </a:solidFill>
          <a:ln w="12700">
            <a:solidFill>
              <a:srgbClr val="CF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47472" y="3328416"/>
            <a:ext cx="475488" cy="475488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" y="33284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60120" y="329184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Your Report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60120" y="3584448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Product_Category to Rows, Sales to Values (Excel auto-sums it), Order_Date to Columns for monthly view.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74320" y="4041648"/>
            <a:ext cx="859536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CF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47472" y="4133088"/>
            <a:ext cx="475488" cy="475488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7472" y="41330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60120" y="409651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 When Needed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960120" y="438912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new orders? Right-click the pivot → Refresh to update all numbers instantly.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31" name="Text 29"/>
          <p:cNvSpPr/>
          <p:nvPr/>
        </p:nvSpPr>
        <p:spPr>
          <a:xfrm>
            <a:off x="0" y="4901184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 of 4  —  Creating Pivot Tables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9144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4 PIVOT TABLE AREAS — Drag Your Columns Here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FFB300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" y="804672"/>
            <a:ext cx="4297680" cy="1874520"/>
          </a:xfrm>
          <a:prstGeom prst="rect">
            <a:avLst/>
          </a:prstGeom>
          <a:solidFill>
            <a:srgbClr val="E3F2FD"/>
          </a:solidFill>
          <a:ln w="25400">
            <a:solidFill>
              <a:srgbClr val="1565C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804672"/>
            <a:ext cx="4297680" cy="347472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7" name="Text 5"/>
          <p:cNvSpPr/>
          <p:nvPr/>
        </p:nvSpPr>
        <p:spPr>
          <a:xfrm>
            <a:off x="338328" y="804672"/>
            <a:ext cx="40782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🗂  FILTERS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38328" y="1207008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What: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41248" y="1207008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Top-level filter that hides/shows the whole pivot.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38328" y="148132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069848" y="1481328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"Order_Priority" here → Show only "High" priority orders.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38328" y="2249424"/>
            <a:ext cx="40782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fields: Order_Priority, Gender, Payment_Method, Device_Type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800600" y="804672"/>
            <a:ext cx="4297680" cy="1874520"/>
          </a:xfrm>
          <a:prstGeom prst="rect">
            <a:avLst/>
          </a:prstGeom>
          <a:solidFill>
            <a:srgbClr val="E0F2F1"/>
          </a:solidFill>
          <a:ln w="25400">
            <a:solidFill>
              <a:srgbClr val="0069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800600" y="804672"/>
            <a:ext cx="4297680" cy="347472"/>
          </a:xfrm>
          <a:prstGeom prst="rect">
            <a:avLst/>
          </a:prstGeom>
          <a:solidFill>
            <a:srgbClr val="00695C"/>
          </a:solidFill>
          <a:ln/>
        </p:spPr>
      </p:sp>
      <p:sp>
        <p:nvSpPr>
          <p:cNvPr id="15" name="Text 13"/>
          <p:cNvSpPr/>
          <p:nvPr/>
        </p:nvSpPr>
        <p:spPr>
          <a:xfrm>
            <a:off x="4910328" y="804672"/>
            <a:ext cx="40782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ROWS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910328" y="1207008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What: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13248" y="1207008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unique value becomes a row label.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910328" y="148132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641848" y="1481328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"Product_Category" → Rows show: Electronics, Clothing, Books…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910328" y="2249424"/>
            <a:ext cx="40782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fields: Product_Category, Product, Customer_Id, Gender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28600" y="2862072"/>
            <a:ext cx="4297680" cy="1874520"/>
          </a:xfrm>
          <a:prstGeom prst="rect">
            <a:avLst/>
          </a:prstGeom>
          <a:solidFill>
            <a:srgbClr val="FFF3E0"/>
          </a:solidFill>
          <a:ln w="25400">
            <a:solidFill>
              <a:srgbClr val="E651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28600" y="2862072"/>
            <a:ext cx="4297680" cy="347472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23" name="Text 21"/>
          <p:cNvSpPr/>
          <p:nvPr/>
        </p:nvSpPr>
        <p:spPr>
          <a:xfrm>
            <a:off x="338328" y="2862072"/>
            <a:ext cx="40782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 COLUMNS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38328" y="3264408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What: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41248" y="3264408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unique value becomes a column header.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38328" y="353872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1069848" y="3538728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"Order_Date" (grouped by Month) → Jan, Feb, Mar columns.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38328" y="4306824"/>
            <a:ext cx="40782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fields: Order_Date, Device_Type, Order_Priority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800600" y="2862072"/>
            <a:ext cx="4297680" cy="1874520"/>
          </a:xfrm>
          <a:prstGeom prst="rect">
            <a:avLst/>
          </a:prstGeom>
          <a:solidFill>
            <a:srgbClr val="F3E5F5"/>
          </a:solidFill>
          <a:ln w="25400">
            <a:solidFill>
              <a:srgbClr val="6A1B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00600" y="2862072"/>
            <a:ext cx="4297680" cy="347472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31" name="Text 29"/>
          <p:cNvSpPr/>
          <p:nvPr/>
        </p:nvSpPr>
        <p:spPr>
          <a:xfrm>
            <a:off x="4910328" y="2862072"/>
            <a:ext cx="40782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🔢  VALUES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910328" y="3264408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What: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413248" y="3264408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numbers Excel calculates (Sum, Count, Average).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910328" y="353872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641848" y="3538728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"Sales" → Shows total sales per row/column combination.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910328" y="4306824"/>
            <a:ext cx="40782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fields: Sales, Profit, Quantity, Discount, Shipping_Cost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38" name="Text 36"/>
          <p:cNvSpPr/>
          <p:nvPr/>
        </p:nvSpPr>
        <p:spPr>
          <a:xfrm>
            <a:off x="0" y="4901184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You can drag ANY column into ANY area — experiment freely!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9144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1 — Total Sales &amp; Profit by Product Category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FFB300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" y="804672"/>
            <a:ext cx="3200400" cy="3931920"/>
          </a:xfrm>
          <a:prstGeom prst="rect">
            <a:avLst/>
          </a:prstGeom>
          <a:solidFill>
            <a:srgbClr val="E3F2FD"/>
          </a:solidFill>
          <a:ln w="19050">
            <a:solidFill>
              <a:srgbClr val="1565C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804672"/>
            <a:ext cx="3200400" cy="347472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7" name="Text 5"/>
          <p:cNvSpPr/>
          <p:nvPr/>
        </p:nvSpPr>
        <p:spPr>
          <a:xfrm>
            <a:off x="338328" y="804672"/>
            <a:ext cx="2980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  PIVOT SETUP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1243584"/>
            <a:ext cx="29260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1243584"/>
            <a:ext cx="54864" cy="475488"/>
          </a:xfrm>
          <a:prstGeom prst="rect">
            <a:avLst/>
          </a:prstGeom>
          <a:solidFill>
            <a:srgbClr val="00695C"/>
          </a:solidFill>
          <a:ln/>
        </p:spPr>
      </p:sp>
      <p:sp>
        <p:nvSpPr>
          <p:cNvPr id="10" name="Text 8"/>
          <p:cNvSpPr/>
          <p:nvPr/>
        </p:nvSpPr>
        <p:spPr>
          <a:xfrm>
            <a:off x="429768" y="128016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29768" y="148132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Product_Category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1810512"/>
            <a:ext cx="29260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" y="1810512"/>
            <a:ext cx="54864" cy="475488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14" name="Text 12"/>
          <p:cNvSpPr/>
          <p:nvPr/>
        </p:nvSpPr>
        <p:spPr>
          <a:xfrm>
            <a:off x="429768" y="184708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VALUES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29768" y="204825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of Sales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" y="2377440"/>
            <a:ext cx="29260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" y="2377440"/>
            <a:ext cx="54864" cy="475488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18" name="Text 16"/>
          <p:cNvSpPr/>
          <p:nvPr/>
        </p:nvSpPr>
        <p:spPr>
          <a:xfrm>
            <a:off x="429768" y="241401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VALUES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29768" y="261518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of Profit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" y="2944368"/>
            <a:ext cx="29260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" y="2944368"/>
            <a:ext cx="54864" cy="475488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22" name="Text 20"/>
          <p:cNvSpPr/>
          <p:nvPr/>
        </p:nvSpPr>
        <p:spPr>
          <a:xfrm>
            <a:off x="429768" y="2980944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29768" y="318211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(none)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0040" y="3511296"/>
            <a:ext cx="29260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0040" y="3511296"/>
            <a:ext cx="54864" cy="47548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6" name="Text 24"/>
          <p:cNvSpPr/>
          <p:nvPr/>
        </p:nvSpPr>
        <p:spPr>
          <a:xfrm>
            <a:off x="429768" y="354787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29768" y="374904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Order_Priority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657600" y="804672"/>
            <a:ext cx="521208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F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657600" y="804672"/>
            <a:ext cx="5212080" cy="347472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30" name="Text 28"/>
          <p:cNvSpPr/>
          <p:nvPr/>
        </p:nvSpPr>
        <p:spPr>
          <a:xfrm>
            <a:off x="3767328" y="804672"/>
            <a:ext cx="4992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PIVOT TABLE RESULT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703320" y="1216152"/>
            <a:ext cx="1261872" cy="329184"/>
          </a:xfrm>
          <a:prstGeom prst="rect">
            <a:avLst/>
          </a:prstGeom>
          <a:solidFill>
            <a:srgbClr val="1565C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703320" y="1216152"/>
            <a:ext cx="1261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Category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983480" y="1216152"/>
            <a:ext cx="1261872" cy="329184"/>
          </a:xfrm>
          <a:prstGeom prst="rect">
            <a:avLst/>
          </a:prstGeom>
          <a:solidFill>
            <a:srgbClr val="1565C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83480" y="1216152"/>
            <a:ext cx="1261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of Sales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263640" y="1216152"/>
            <a:ext cx="1261872" cy="329184"/>
          </a:xfrm>
          <a:prstGeom prst="rect">
            <a:avLst/>
          </a:prstGeom>
          <a:solidFill>
            <a:srgbClr val="1565C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63640" y="1216152"/>
            <a:ext cx="1261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of Profit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7543800" y="1216152"/>
            <a:ext cx="1261872" cy="329184"/>
          </a:xfrm>
          <a:prstGeom prst="rect">
            <a:avLst/>
          </a:prstGeom>
          <a:solidFill>
            <a:srgbClr val="1565C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543800" y="1216152"/>
            <a:ext cx="1261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%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3703320" y="1572768"/>
            <a:ext cx="1261872" cy="393192"/>
          </a:xfrm>
          <a:prstGeom prst="rect">
            <a:avLst/>
          </a:prstGeom>
          <a:solidFill>
            <a:srgbClr val="F5F9FF"/>
          </a:solidFill>
          <a:ln w="6350">
            <a:solidFill>
              <a:srgbClr val="CFD8D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703320" y="1572768"/>
            <a:ext cx="126187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983480" y="1572768"/>
            <a:ext cx="1261872" cy="393192"/>
          </a:xfrm>
          <a:prstGeom prst="rect">
            <a:avLst/>
          </a:prstGeom>
          <a:solidFill>
            <a:srgbClr val="F5F9FF"/>
          </a:solidFill>
          <a:ln w="6350">
            <a:solidFill>
              <a:srgbClr val="CFD8D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83480" y="1572768"/>
            <a:ext cx="126187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$1,24,500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263640" y="1572768"/>
            <a:ext cx="1261872" cy="393192"/>
          </a:xfrm>
          <a:prstGeom prst="rect">
            <a:avLst/>
          </a:prstGeom>
          <a:solidFill>
            <a:srgbClr val="F5F9FF"/>
          </a:solidFill>
          <a:ln w="6350">
            <a:solidFill>
              <a:srgbClr val="CFD8D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263640" y="1572768"/>
            <a:ext cx="126187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$32,100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7543800" y="1572768"/>
            <a:ext cx="1261872" cy="393192"/>
          </a:xfrm>
          <a:prstGeom prst="rect">
            <a:avLst/>
          </a:prstGeom>
          <a:solidFill>
            <a:srgbClr val="F5F9FF"/>
          </a:solidFill>
          <a:ln w="6350">
            <a:solidFill>
              <a:srgbClr val="CFD8D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543800" y="1572768"/>
            <a:ext cx="126187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25.8%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3703320" y="1984248"/>
            <a:ext cx="1261872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CFD8D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703320" y="1984248"/>
            <a:ext cx="126187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Clothing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4983480" y="1984248"/>
            <a:ext cx="1261872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CFD8D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983480" y="1984248"/>
            <a:ext cx="126187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$98,200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263640" y="1984248"/>
            <a:ext cx="1261872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CFD8DC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263640" y="1984248"/>
            <a:ext cx="126187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$18,450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7543800" y="1984248"/>
            <a:ext cx="1261872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CFD8DC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543800" y="1984248"/>
            <a:ext cx="126187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18.8%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3703320" y="2395728"/>
            <a:ext cx="1261872" cy="393192"/>
          </a:xfrm>
          <a:prstGeom prst="rect">
            <a:avLst/>
          </a:prstGeom>
          <a:solidFill>
            <a:srgbClr val="F5F9FF"/>
          </a:solidFill>
          <a:ln w="6350">
            <a:solidFill>
              <a:srgbClr val="CFD8DC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703320" y="2395728"/>
            <a:ext cx="126187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Books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4983480" y="2395728"/>
            <a:ext cx="1261872" cy="393192"/>
          </a:xfrm>
          <a:prstGeom prst="rect">
            <a:avLst/>
          </a:prstGeom>
          <a:solidFill>
            <a:srgbClr val="F5F9FF"/>
          </a:solidFill>
          <a:ln w="6350">
            <a:solidFill>
              <a:srgbClr val="CFD8DC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983480" y="2395728"/>
            <a:ext cx="126187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$47,600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6263640" y="2395728"/>
            <a:ext cx="1261872" cy="393192"/>
          </a:xfrm>
          <a:prstGeom prst="rect">
            <a:avLst/>
          </a:prstGeom>
          <a:solidFill>
            <a:srgbClr val="F5F9FF"/>
          </a:solidFill>
          <a:ln w="6350">
            <a:solidFill>
              <a:srgbClr val="CFD8DC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263640" y="2395728"/>
            <a:ext cx="126187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$14,280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7543800" y="2395728"/>
            <a:ext cx="1261872" cy="393192"/>
          </a:xfrm>
          <a:prstGeom prst="rect">
            <a:avLst/>
          </a:prstGeom>
          <a:solidFill>
            <a:srgbClr val="F5F9FF"/>
          </a:solidFill>
          <a:ln w="6350">
            <a:solidFill>
              <a:srgbClr val="CFD8DC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543800" y="2395728"/>
            <a:ext cx="126187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30.0%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3703320" y="2807208"/>
            <a:ext cx="1261872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CFD8DC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3703320" y="2807208"/>
            <a:ext cx="126187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&amp; Garden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4983480" y="2807208"/>
            <a:ext cx="1261872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CFD8DC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983480" y="2807208"/>
            <a:ext cx="126187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$63,800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6263640" y="2807208"/>
            <a:ext cx="1261872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CFD8DC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263640" y="2807208"/>
            <a:ext cx="126187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$11,490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7543800" y="2807208"/>
            <a:ext cx="1261872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CFD8DC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7543800" y="2807208"/>
            <a:ext cx="126187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18.0%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3703320" y="3218688"/>
            <a:ext cx="1261872" cy="393192"/>
          </a:xfrm>
          <a:prstGeom prst="rect">
            <a:avLst/>
          </a:prstGeom>
          <a:solidFill>
            <a:srgbClr val="F5F9FF"/>
          </a:solidFill>
          <a:ln w="6350">
            <a:solidFill>
              <a:srgbClr val="CFD8DC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3703320" y="3218688"/>
            <a:ext cx="126187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Sports</a:t>
            </a:r>
            <a:endParaRPr lang="en-US" sz="1000" dirty="0"/>
          </a:p>
        </p:txBody>
      </p:sp>
      <p:sp>
        <p:nvSpPr>
          <p:cNvPr id="73" name="Shape 71"/>
          <p:cNvSpPr/>
          <p:nvPr/>
        </p:nvSpPr>
        <p:spPr>
          <a:xfrm>
            <a:off x="4983480" y="3218688"/>
            <a:ext cx="1261872" cy="393192"/>
          </a:xfrm>
          <a:prstGeom prst="rect">
            <a:avLst/>
          </a:prstGeom>
          <a:solidFill>
            <a:srgbClr val="F5F9FF"/>
          </a:solidFill>
          <a:ln w="6350">
            <a:solidFill>
              <a:srgbClr val="CFD8DC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4983480" y="3218688"/>
            <a:ext cx="126187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$55,300</a:t>
            </a:r>
            <a:endParaRPr lang="en-US" sz="1000" dirty="0"/>
          </a:p>
        </p:txBody>
      </p:sp>
      <p:sp>
        <p:nvSpPr>
          <p:cNvPr id="75" name="Shape 73"/>
          <p:cNvSpPr/>
          <p:nvPr/>
        </p:nvSpPr>
        <p:spPr>
          <a:xfrm>
            <a:off x="6263640" y="3218688"/>
            <a:ext cx="1261872" cy="393192"/>
          </a:xfrm>
          <a:prstGeom prst="rect">
            <a:avLst/>
          </a:prstGeom>
          <a:solidFill>
            <a:srgbClr val="F5F9FF"/>
          </a:solidFill>
          <a:ln w="6350">
            <a:solidFill>
              <a:srgbClr val="CFD8DC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6263640" y="3218688"/>
            <a:ext cx="126187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$13,825</a:t>
            </a:r>
            <a:endParaRPr lang="en-US" sz="1000" dirty="0"/>
          </a:p>
        </p:txBody>
      </p:sp>
      <p:sp>
        <p:nvSpPr>
          <p:cNvPr id="77" name="Shape 75"/>
          <p:cNvSpPr/>
          <p:nvPr/>
        </p:nvSpPr>
        <p:spPr>
          <a:xfrm>
            <a:off x="7543800" y="3218688"/>
            <a:ext cx="1261872" cy="393192"/>
          </a:xfrm>
          <a:prstGeom prst="rect">
            <a:avLst/>
          </a:prstGeom>
          <a:solidFill>
            <a:srgbClr val="F5F9FF"/>
          </a:solidFill>
          <a:ln w="6350">
            <a:solidFill>
              <a:srgbClr val="CFD8DC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7543800" y="3218688"/>
            <a:ext cx="126187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25.0%</a:t>
            </a:r>
            <a:endParaRPr lang="en-US" sz="1000" dirty="0"/>
          </a:p>
        </p:txBody>
      </p:sp>
      <p:sp>
        <p:nvSpPr>
          <p:cNvPr id="79" name="Shape 77"/>
          <p:cNvSpPr/>
          <p:nvPr/>
        </p:nvSpPr>
        <p:spPr>
          <a:xfrm>
            <a:off x="3703320" y="3630168"/>
            <a:ext cx="1261872" cy="393192"/>
          </a:xfrm>
          <a:prstGeom prst="rect">
            <a:avLst/>
          </a:prstGeom>
          <a:solidFill>
            <a:srgbClr val="E0F7FA"/>
          </a:solidFill>
          <a:ln w="6350">
            <a:solidFill>
              <a:srgbClr val="CFD8DC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3703320" y="3630168"/>
            <a:ext cx="126187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 Total</a:t>
            </a:r>
            <a:endParaRPr lang="en-US" sz="1000" dirty="0"/>
          </a:p>
        </p:txBody>
      </p:sp>
      <p:sp>
        <p:nvSpPr>
          <p:cNvPr id="81" name="Shape 79"/>
          <p:cNvSpPr/>
          <p:nvPr/>
        </p:nvSpPr>
        <p:spPr>
          <a:xfrm>
            <a:off x="4983480" y="3630168"/>
            <a:ext cx="1261872" cy="393192"/>
          </a:xfrm>
          <a:prstGeom prst="rect">
            <a:avLst/>
          </a:prstGeom>
          <a:solidFill>
            <a:srgbClr val="E0F7FA"/>
          </a:solidFill>
          <a:ln w="6350">
            <a:solidFill>
              <a:srgbClr val="CFD8DC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4983480" y="3630168"/>
            <a:ext cx="126187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$3,89,400</a:t>
            </a:r>
            <a:endParaRPr lang="en-US" sz="1000" dirty="0"/>
          </a:p>
        </p:txBody>
      </p:sp>
      <p:sp>
        <p:nvSpPr>
          <p:cNvPr id="83" name="Shape 81"/>
          <p:cNvSpPr/>
          <p:nvPr/>
        </p:nvSpPr>
        <p:spPr>
          <a:xfrm>
            <a:off x="6263640" y="3630168"/>
            <a:ext cx="1261872" cy="393192"/>
          </a:xfrm>
          <a:prstGeom prst="rect">
            <a:avLst/>
          </a:prstGeom>
          <a:solidFill>
            <a:srgbClr val="E0F7FA"/>
          </a:solidFill>
          <a:ln w="6350">
            <a:solidFill>
              <a:srgbClr val="CFD8DC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6263640" y="3630168"/>
            <a:ext cx="126187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$90,145</a:t>
            </a:r>
            <a:endParaRPr lang="en-US" sz="1000" dirty="0"/>
          </a:p>
        </p:txBody>
      </p:sp>
      <p:sp>
        <p:nvSpPr>
          <p:cNvPr id="85" name="Shape 83"/>
          <p:cNvSpPr/>
          <p:nvPr/>
        </p:nvSpPr>
        <p:spPr>
          <a:xfrm>
            <a:off x="7543800" y="3630168"/>
            <a:ext cx="1261872" cy="393192"/>
          </a:xfrm>
          <a:prstGeom prst="rect">
            <a:avLst/>
          </a:prstGeom>
          <a:solidFill>
            <a:srgbClr val="E0F7FA"/>
          </a:solidFill>
          <a:ln w="6350">
            <a:solidFill>
              <a:srgbClr val="CFD8DC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7543800" y="3630168"/>
            <a:ext cx="126187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23.1%</a:t>
            </a:r>
            <a:endParaRPr lang="en-US" sz="1000" dirty="0"/>
          </a:p>
        </p:txBody>
      </p:sp>
      <p:sp>
        <p:nvSpPr>
          <p:cNvPr id="87" name="Shape 85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88" name="Text 86"/>
          <p:cNvSpPr/>
          <p:nvPr/>
        </p:nvSpPr>
        <p:spPr>
          <a:xfrm>
            <a:off x="0" y="4901184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Insight: Books has the highest profit margin (30%) despite lower total sales.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9144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2 — Profit by Gender × Device Type (Cross-Tab)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097A7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" y="804672"/>
            <a:ext cx="3108960" cy="2926080"/>
          </a:xfrm>
          <a:prstGeom prst="rect">
            <a:avLst/>
          </a:prstGeom>
          <a:solidFill>
            <a:srgbClr val="E8F5E9"/>
          </a:solidFill>
          <a:ln w="19050">
            <a:solidFill>
              <a:srgbClr val="2E7D3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804672"/>
            <a:ext cx="3108960" cy="347472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7" name="Text 5"/>
          <p:cNvSpPr/>
          <p:nvPr/>
        </p:nvSpPr>
        <p:spPr>
          <a:xfrm>
            <a:off x="338328" y="804672"/>
            <a:ext cx="28895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  PIVOT SETUP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1243584"/>
            <a:ext cx="29260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1243584"/>
            <a:ext cx="54864" cy="457200"/>
          </a:xfrm>
          <a:prstGeom prst="rect">
            <a:avLst/>
          </a:prstGeom>
          <a:solidFill>
            <a:srgbClr val="00695C"/>
          </a:solidFill>
          <a:ln/>
        </p:spPr>
      </p:sp>
      <p:sp>
        <p:nvSpPr>
          <p:cNvPr id="10" name="Text 8"/>
          <p:cNvSpPr/>
          <p:nvPr/>
        </p:nvSpPr>
        <p:spPr>
          <a:xfrm>
            <a:off x="429768" y="128016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29768" y="148132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1773936"/>
            <a:ext cx="29260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" y="1773936"/>
            <a:ext cx="54864" cy="457200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14" name="Text 12"/>
          <p:cNvSpPr/>
          <p:nvPr/>
        </p:nvSpPr>
        <p:spPr>
          <a:xfrm>
            <a:off x="429768" y="181051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29768" y="201168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Device_Type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" y="2304288"/>
            <a:ext cx="29260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" y="2304288"/>
            <a:ext cx="54864" cy="457200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18" name="Text 16"/>
          <p:cNvSpPr/>
          <p:nvPr/>
        </p:nvSpPr>
        <p:spPr>
          <a:xfrm>
            <a:off x="429768" y="2340864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VALUES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29768" y="254203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of Profit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" y="2834640"/>
            <a:ext cx="29260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" y="2834640"/>
            <a:ext cx="54864" cy="45720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2" name="Text 20"/>
          <p:cNvSpPr/>
          <p:nvPr/>
        </p:nvSpPr>
        <p:spPr>
          <a:xfrm>
            <a:off x="429768" y="287121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29768" y="307238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Product_Category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28600" y="3886200"/>
            <a:ext cx="3108960" cy="749808"/>
          </a:xfrm>
          <a:prstGeom prst="rect">
            <a:avLst/>
          </a:prstGeom>
          <a:solidFill>
            <a:srgbClr val="FFF9C4"/>
          </a:solidFill>
          <a:ln w="19050">
            <a:solidFill>
              <a:srgbClr val="FFB3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" y="3913632"/>
            <a:ext cx="29260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4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Why This Matters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D4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if Mobile users of one Gender spend more — helps target marketing campaigns.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566160" y="804672"/>
            <a:ext cx="534924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F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566160" y="804672"/>
            <a:ext cx="5349240" cy="347472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28" name="Text 26"/>
          <p:cNvSpPr/>
          <p:nvPr/>
        </p:nvSpPr>
        <p:spPr>
          <a:xfrm>
            <a:off x="3675888" y="804672"/>
            <a:ext cx="51297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PIVOT TABLE RESULT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611880" y="1216152"/>
            <a:ext cx="1033272" cy="347472"/>
          </a:xfrm>
          <a:prstGeom prst="rect">
            <a:avLst/>
          </a:prstGeom>
          <a:solidFill>
            <a:srgbClr val="2E7D3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11880" y="1216152"/>
            <a:ext cx="10332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663440" y="1216152"/>
            <a:ext cx="1033272" cy="347472"/>
          </a:xfrm>
          <a:prstGeom prst="rect">
            <a:avLst/>
          </a:prstGeom>
          <a:solidFill>
            <a:srgbClr val="1B5E2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63440" y="1216152"/>
            <a:ext cx="10332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715000" y="1216152"/>
            <a:ext cx="1033272" cy="347472"/>
          </a:xfrm>
          <a:prstGeom prst="rect">
            <a:avLst/>
          </a:prstGeom>
          <a:solidFill>
            <a:srgbClr val="1B5E2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715000" y="1216152"/>
            <a:ext cx="10332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766560" y="1216152"/>
            <a:ext cx="1033272" cy="347472"/>
          </a:xfrm>
          <a:prstGeom prst="rect">
            <a:avLst/>
          </a:prstGeom>
          <a:solidFill>
            <a:srgbClr val="1B5E2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766560" y="1216152"/>
            <a:ext cx="10332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Tablet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7818120" y="1216152"/>
            <a:ext cx="1033272" cy="347472"/>
          </a:xfrm>
          <a:prstGeom prst="rect">
            <a:avLst/>
          </a:prstGeom>
          <a:solidFill>
            <a:srgbClr val="1B5E2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818120" y="1216152"/>
            <a:ext cx="10332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 Total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3611880" y="1591056"/>
            <a:ext cx="1033272" cy="457200"/>
          </a:xfrm>
          <a:prstGeom prst="rect">
            <a:avLst/>
          </a:prstGeom>
          <a:solidFill>
            <a:srgbClr val="F5F9FF"/>
          </a:solidFill>
          <a:ln w="6350">
            <a:solidFill>
              <a:srgbClr val="CFD8D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11880" y="1591056"/>
            <a:ext cx="1033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Female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663440" y="1591056"/>
            <a:ext cx="1033272" cy="457200"/>
          </a:xfrm>
          <a:prstGeom prst="rect">
            <a:avLst/>
          </a:prstGeom>
          <a:solidFill>
            <a:srgbClr val="F5F9FF"/>
          </a:solidFill>
          <a:ln w="6350">
            <a:solidFill>
              <a:srgbClr val="CFD8D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663440" y="1591056"/>
            <a:ext cx="1033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$42,300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5715000" y="1591056"/>
            <a:ext cx="1033272" cy="457200"/>
          </a:xfrm>
          <a:prstGeom prst="rect">
            <a:avLst/>
          </a:prstGeom>
          <a:solidFill>
            <a:srgbClr val="F5F9FF"/>
          </a:solidFill>
          <a:ln w="6350">
            <a:solidFill>
              <a:srgbClr val="CFD8D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715000" y="1591056"/>
            <a:ext cx="1033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$38,600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766560" y="1591056"/>
            <a:ext cx="1033272" cy="457200"/>
          </a:xfrm>
          <a:prstGeom prst="rect">
            <a:avLst/>
          </a:prstGeom>
          <a:solidFill>
            <a:srgbClr val="F5F9FF"/>
          </a:solidFill>
          <a:ln w="6350">
            <a:solidFill>
              <a:srgbClr val="CFD8D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766560" y="1591056"/>
            <a:ext cx="1033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$21,400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7818120" y="1591056"/>
            <a:ext cx="1033272" cy="457200"/>
          </a:xfrm>
          <a:prstGeom prst="rect">
            <a:avLst/>
          </a:prstGeom>
          <a:solidFill>
            <a:srgbClr val="F5F9FF"/>
          </a:solidFill>
          <a:ln w="6350">
            <a:solidFill>
              <a:srgbClr val="CFD8D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818120" y="1591056"/>
            <a:ext cx="1033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$1,02,300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3611880" y="2066544"/>
            <a:ext cx="1033272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FD8D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611880" y="2066544"/>
            <a:ext cx="1033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4663440" y="2066544"/>
            <a:ext cx="1033272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FD8DC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663440" y="2066544"/>
            <a:ext cx="1033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$39,100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5715000" y="2066544"/>
            <a:ext cx="1033272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FD8DC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715000" y="2066544"/>
            <a:ext cx="1033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$35,900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6766560" y="2066544"/>
            <a:ext cx="1033272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FD8DC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766560" y="2066544"/>
            <a:ext cx="1033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$19,200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7818120" y="2066544"/>
            <a:ext cx="1033272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FD8DC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818120" y="2066544"/>
            <a:ext cx="1033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$94,200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3611880" y="2542032"/>
            <a:ext cx="1033272" cy="457200"/>
          </a:xfrm>
          <a:prstGeom prst="rect">
            <a:avLst/>
          </a:prstGeom>
          <a:solidFill>
            <a:srgbClr val="E0F7FA"/>
          </a:solidFill>
          <a:ln w="6350">
            <a:solidFill>
              <a:srgbClr val="CFD8DC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611880" y="2542032"/>
            <a:ext cx="1033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 Total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4663440" y="2542032"/>
            <a:ext cx="1033272" cy="457200"/>
          </a:xfrm>
          <a:prstGeom prst="rect">
            <a:avLst/>
          </a:prstGeom>
          <a:solidFill>
            <a:srgbClr val="E0F7FA"/>
          </a:solidFill>
          <a:ln w="6350">
            <a:solidFill>
              <a:srgbClr val="CFD8DC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663440" y="2542032"/>
            <a:ext cx="1033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$81,400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5715000" y="2542032"/>
            <a:ext cx="1033272" cy="457200"/>
          </a:xfrm>
          <a:prstGeom prst="rect">
            <a:avLst/>
          </a:prstGeom>
          <a:solidFill>
            <a:srgbClr val="E0F7FA"/>
          </a:solidFill>
          <a:ln w="6350">
            <a:solidFill>
              <a:srgbClr val="CFD8DC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715000" y="2542032"/>
            <a:ext cx="1033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$74,500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6766560" y="2542032"/>
            <a:ext cx="1033272" cy="457200"/>
          </a:xfrm>
          <a:prstGeom prst="rect">
            <a:avLst/>
          </a:prstGeom>
          <a:solidFill>
            <a:srgbClr val="E0F7FA"/>
          </a:solidFill>
          <a:ln w="6350">
            <a:solidFill>
              <a:srgbClr val="CFD8DC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766560" y="2542032"/>
            <a:ext cx="1033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$40,600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7818120" y="2542032"/>
            <a:ext cx="1033272" cy="457200"/>
          </a:xfrm>
          <a:prstGeom prst="rect">
            <a:avLst/>
          </a:prstGeom>
          <a:solidFill>
            <a:srgbClr val="E0F7FA"/>
          </a:solidFill>
          <a:ln w="6350">
            <a:solidFill>
              <a:srgbClr val="CFD8DC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7818120" y="2542032"/>
            <a:ext cx="1033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$1,96,500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3566160" y="4160520"/>
            <a:ext cx="5349240" cy="658368"/>
          </a:xfrm>
          <a:prstGeom prst="rect">
            <a:avLst/>
          </a:prstGeom>
          <a:solidFill>
            <a:srgbClr val="E0F7FA"/>
          </a:solidFill>
          <a:ln w="19050">
            <a:solidFill>
              <a:srgbClr val="0097A7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703320" y="4206240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Insight: Desktop drives the most profit ($81,400), and Female customers outspend Male customers across all device types. Focus mobile campaigns on Female audience.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72" name="Text 70"/>
          <p:cNvSpPr/>
          <p:nvPr/>
        </p:nvSpPr>
        <p:spPr>
          <a:xfrm>
            <a:off x="0" y="4901184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Cross-tab pivot = Rows × Columns combination — powerful for customer segmentation!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A148C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9144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SLICER?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CE93D8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822960"/>
            <a:ext cx="8595360" cy="749808"/>
          </a:xfrm>
          <a:prstGeom prst="rect">
            <a:avLst/>
          </a:prstGeom>
          <a:solidFill>
            <a:srgbClr val="1A0033"/>
          </a:solidFill>
          <a:ln w="19050">
            <a:solidFill>
              <a:srgbClr val="CE93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868680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A Slicer is a visual, clickable filter button panel that is connected to a Pivot Table. Instead of using dropdown menus, you click colourful buttons to filter your data instantly.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755648"/>
            <a:ext cx="4023360" cy="3108960"/>
          </a:xfrm>
          <a:prstGeom prst="rect">
            <a:avLst/>
          </a:prstGeom>
          <a:solidFill>
            <a:srgbClr val="0D001A"/>
          </a:solidFill>
          <a:ln w="19050">
            <a:solidFill>
              <a:srgbClr val="CE93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755648"/>
            <a:ext cx="4023360" cy="411480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9" name="Text 7"/>
          <p:cNvSpPr/>
          <p:nvPr/>
        </p:nvSpPr>
        <p:spPr>
          <a:xfrm>
            <a:off x="411480" y="1783080"/>
            <a:ext cx="37490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🔲  Slicer: Product_Category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11480" y="2286000"/>
            <a:ext cx="1783080" cy="512064"/>
          </a:xfrm>
          <a:prstGeom prst="rect">
            <a:avLst/>
          </a:prstGeom>
          <a:solidFill>
            <a:srgbClr val="7B1FA2"/>
          </a:solidFill>
          <a:ln w="25400">
            <a:solidFill>
              <a:srgbClr val="CE93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11480" y="2286000"/>
            <a:ext cx="1783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E9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Electronics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331720" y="2286000"/>
            <a:ext cx="1783080" cy="512064"/>
          </a:xfrm>
          <a:prstGeom prst="rect">
            <a:avLst/>
          </a:prstGeom>
          <a:solidFill>
            <a:srgbClr val="1A0033"/>
          </a:solidFill>
          <a:ln w="12700">
            <a:solidFill>
              <a:srgbClr val="4A006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331720" y="2286000"/>
            <a:ext cx="1783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575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Clothing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11480" y="2944368"/>
            <a:ext cx="1783080" cy="512064"/>
          </a:xfrm>
          <a:prstGeom prst="rect">
            <a:avLst/>
          </a:prstGeom>
          <a:solidFill>
            <a:srgbClr val="7B1FA2"/>
          </a:solidFill>
          <a:ln w="25400">
            <a:solidFill>
              <a:srgbClr val="CE93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11480" y="2944368"/>
            <a:ext cx="1783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E9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Books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331720" y="2944368"/>
            <a:ext cx="1783080" cy="512064"/>
          </a:xfrm>
          <a:prstGeom prst="rect">
            <a:avLst/>
          </a:prstGeom>
          <a:solidFill>
            <a:srgbClr val="1A0033"/>
          </a:solidFill>
          <a:ln w="12700">
            <a:solidFill>
              <a:srgbClr val="4A006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331720" y="2944368"/>
            <a:ext cx="1783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575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&amp; Garden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11480" y="3602736"/>
            <a:ext cx="1783080" cy="512064"/>
          </a:xfrm>
          <a:prstGeom prst="rect">
            <a:avLst/>
          </a:prstGeom>
          <a:solidFill>
            <a:srgbClr val="1A0033"/>
          </a:solidFill>
          <a:ln w="12700">
            <a:solidFill>
              <a:srgbClr val="4A006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3602736"/>
            <a:ext cx="1783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575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331720" y="3602736"/>
            <a:ext cx="1783080" cy="512064"/>
          </a:xfrm>
          <a:prstGeom prst="rect">
            <a:avLst/>
          </a:prstGeom>
          <a:solidFill>
            <a:srgbClr val="1A0033"/>
          </a:solidFill>
          <a:ln w="12700">
            <a:solidFill>
              <a:srgbClr val="4A006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331720" y="3602736"/>
            <a:ext cx="1783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575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Beauty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65760" y="46177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E9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Click any button to filter!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0" y="175564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E9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Dropdown vs. Slicer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572000" y="2212848"/>
            <a:ext cx="4297680" cy="1325880"/>
          </a:xfrm>
          <a:prstGeom prst="rect">
            <a:avLst/>
          </a:prstGeom>
          <a:solidFill>
            <a:srgbClr val="0D001A"/>
          </a:solidFill>
          <a:ln w="25400">
            <a:solidFill>
              <a:srgbClr val="455A6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0" y="2212848"/>
            <a:ext cx="4297680" cy="54864"/>
          </a:xfrm>
          <a:prstGeom prst="rect">
            <a:avLst/>
          </a:prstGeom>
          <a:solidFill>
            <a:srgbClr val="455A64"/>
          </a:solidFill>
          <a:ln/>
        </p:spPr>
      </p:sp>
      <p:sp>
        <p:nvSpPr>
          <p:cNvPr id="26" name="Text 24"/>
          <p:cNvSpPr/>
          <p:nvPr/>
        </p:nvSpPr>
        <p:spPr>
          <a:xfrm>
            <a:off x="4681728" y="2249424"/>
            <a:ext cx="4078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🔽 Filter Dropdown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681728" y="2651760"/>
            <a:ext cx="40782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but hidden. Hard to see what's filtered at a glance.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0" y="3675888"/>
            <a:ext cx="4297680" cy="1325880"/>
          </a:xfrm>
          <a:prstGeom prst="rect">
            <a:avLst/>
          </a:prstGeom>
          <a:solidFill>
            <a:srgbClr val="0D001A"/>
          </a:solidFill>
          <a:ln w="25400">
            <a:solidFill>
              <a:srgbClr val="6A1B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572000" y="3675888"/>
            <a:ext cx="4297680" cy="54864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30" name="Text 28"/>
          <p:cNvSpPr/>
          <p:nvPr/>
        </p:nvSpPr>
        <p:spPr>
          <a:xfrm>
            <a:off x="4681728" y="3712464"/>
            <a:ext cx="4078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🔲 Slicer (Better!)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681728" y="4114800"/>
            <a:ext cx="40782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Visual. Instantly see active filters. Works on multiple pivots at once!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4A148C"/>
          </a:solidFill>
          <a:ln/>
        </p:spPr>
      </p:sp>
      <p:sp>
        <p:nvSpPr>
          <p:cNvPr id="33" name="Text 31"/>
          <p:cNvSpPr/>
          <p:nvPr/>
        </p:nvSpPr>
        <p:spPr>
          <a:xfrm>
            <a:off x="0" y="4901184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 of 4  —  Slicers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A148C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9144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&amp; HOW TO USE SLICERS — Quick Guide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CE93D8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" y="804672"/>
            <a:ext cx="4114800" cy="3931920"/>
          </a:xfrm>
          <a:prstGeom prst="rect">
            <a:avLst/>
          </a:prstGeom>
          <a:solidFill>
            <a:srgbClr val="F3E5F5"/>
          </a:solidFill>
          <a:ln w="25400">
            <a:solidFill>
              <a:srgbClr val="6A1B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804672"/>
            <a:ext cx="4114800" cy="384048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7" name="Text 5"/>
          <p:cNvSpPr/>
          <p:nvPr/>
        </p:nvSpPr>
        <p:spPr>
          <a:xfrm>
            <a:off x="338328" y="804672"/>
            <a:ext cx="38953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💜  WHY USE SLICERS?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" y="1298448"/>
            <a:ext cx="393192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FD8D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316736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👁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77240" y="1316736"/>
            <a:ext cx="34015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clarity — see exactly what's filtered in one look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" y="1801368"/>
            <a:ext cx="3931920" cy="438912"/>
          </a:xfrm>
          <a:prstGeom prst="rect">
            <a:avLst/>
          </a:prstGeom>
          <a:solidFill>
            <a:srgbClr val="F8F0FF"/>
          </a:solidFill>
          <a:ln w="6350">
            <a:solidFill>
              <a:srgbClr val="CFD8D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819656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⚡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77240" y="1819656"/>
            <a:ext cx="34015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filtering — one click vs. multiple dropdown steps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2304288"/>
            <a:ext cx="393192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FD8D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322576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🔗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77240" y="2322576"/>
            <a:ext cx="34015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multiple pivot tables simultaneously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2807208"/>
            <a:ext cx="3931920" cy="438912"/>
          </a:xfrm>
          <a:prstGeom prst="rect">
            <a:avLst/>
          </a:prstGeom>
          <a:solidFill>
            <a:srgbClr val="F8F0FF"/>
          </a:solidFill>
          <a:ln w="6350">
            <a:solidFill>
              <a:srgbClr val="CFD8D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825496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👔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77240" y="2825496"/>
            <a:ext cx="34015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dashboards — impress stakeholders instantly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" y="3310128"/>
            <a:ext cx="393192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FD8D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328416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🔄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77240" y="3328416"/>
            <a:ext cx="34015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Quickly compare: e.g. Electronics vs. Clothing profit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20040" y="3813048"/>
            <a:ext cx="3931920" cy="438912"/>
          </a:xfrm>
          <a:prstGeom prst="rect">
            <a:avLst/>
          </a:prstGeom>
          <a:solidFill>
            <a:srgbClr val="F8F0FF"/>
          </a:solidFill>
          <a:ln w="6350">
            <a:solidFill>
              <a:srgbClr val="CFD8D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831336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📱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77240" y="3831336"/>
            <a:ext cx="34015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great for presentation mode &amp; live demos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0" y="804672"/>
            <a:ext cx="4343400" cy="3931920"/>
          </a:xfrm>
          <a:prstGeom prst="rect">
            <a:avLst/>
          </a:prstGeom>
          <a:solidFill>
            <a:srgbClr val="E3F2FD"/>
          </a:solidFill>
          <a:ln w="25400">
            <a:solidFill>
              <a:srgbClr val="1565C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572000" y="804672"/>
            <a:ext cx="4343400" cy="38404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8" name="Text 26"/>
          <p:cNvSpPr/>
          <p:nvPr/>
        </p:nvSpPr>
        <p:spPr>
          <a:xfrm>
            <a:off x="4681728" y="804672"/>
            <a:ext cx="41239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🔵  HOW TO INSERT A SLICER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663440" y="1289304"/>
            <a:ext cx="320040" cy="32004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63440" y="128930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047488" y="1298448"/>
            <a:ext cx="3794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inside your Pivot Table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663440" y="1682496"/>
            <a:ext cx="320040" cy="32004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63440" y="168249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047488" y="1691640"/>
            <a:ext cx="3794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to PivotTable Analyze tab (top ribbon)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663440" y="2075688"/>
            <a:ext cx="320040" cy="32004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663440" y="207568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047488" y="2084832"/>
            <a:ext cx="3794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"Insert Slicer" button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4663440" y="2468880"/>
            <a:ext cx="320040" cy="32004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663440" y="24688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5047488" y="2478024"/>
            <a:ext cx="3794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 the field(s) you want: Gender, Product_Category, Device_Type, Payment_Method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4663440" y="2862072"/>
            <a:ext cx="320040" cy="32004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663440" y="286207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5047488" y="2871216"/>
            <a:ext cx="3794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OK — slicer panel appears on sheet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4663440" y="3255264"/>
            <a:ext cx="320040" cy="32004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663440" y="325526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5047488" y="3264408"/>
            <a:ext cx="3794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any button to filter! Hold Ctrl for multi-select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4663440" y="3648456"/>
            <a:ext cx="320040" cy="32004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663440" y="364845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5047488" y="3657600"/>
            <a:ext cx="3794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/ resize the slicer to fit your dashboard layout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4A148C"/>
          </a:solidFill>
          <a:ln/>
        </p:spPr>
      </p:sp>
      <p:sp>
        <p:nvSpPr>
          <p:cNvPr id="51" name="Text 49"/>
          <p:cNvSpPr/>
          <p:nvPr/>
        </p:nvSpPr>
        <p:spPr>
          <a:xfrm>
            <a:off x="0" y="4901184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E9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✨ Pro Tip: Connect one Slicer to multiple Pivot Tables via Report Connections!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A148C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9144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SLICER IN ACTION — Sales Dashboard Example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FFB300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" y="786384"/>
            <a:ext cx="8686800" cy="512064"/>
          </a:xfrm>
          <a:prstGeom prst="rect">
            <a:avLst/>
          </a:prstGeom>
          <a:solidFill>
            <a:srgbClr val="FFF9C4"/>
          </a:solidFill>
          <a:ln w="19050">
            <a:solidFill>
              <a:srgbClr val="FFB3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822960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D4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Scenario: You have a Pivot Table showing Sales by Product. You add 3 Slicers: Gender, Device_Type, and Payment_Method. Now you can drill into any combination with clicks.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28600" y="1444752"/>
            <a:ext cx="2788920" cy="2743200"/>
          </a:xfrm>
          <a:prstGeom prst="rect">
            <a:avLst/>
          </a:prstGeom>
          <a:solidFill>
            <a:srgbClr val="E0F2F1"/>
          </a:solidFill>
          <a:ln w="25400">
            <a:solidFill>
              <a:srgbClr val="0069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28600" y="1444752"/>
            <a:ext cx="2788920" cy="365760"/>
          </a:xfrm>
          <a:prstGeom prst="rect">
            <a:avLst/>
          </a:prstGeom>
          <a:solidFill>
            <a:srgbClr val="00695C"/>
          </a:solidFill>
          <a:ln/>
        </p:spPr>
      </p:sp>
      <p:sp>
        <p:nvSpPr>
          <p:cNvPr id="9" name="Text 7"/>
          <p:cNvSpPr/>
          <p:nvPr/>
        </p:nvSpPr>
        <p:spPr>
          <a:xfrm>
            <a:off x="320040" y="1444752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🔲  Gender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38328" y="1874520"/>
            <a:ext cx="2578608" cy="1097280"/>
          </a:xfrm>
          <a:prstGeom prst="rect">
            <a:avLst/>
          </a:prstGeom>
          <a:solidFill>
            <a:srgbClr val="00695C"/>
          </a:solidFill>
          <a:ln w="25400">
            <a:solidFill>
              <a:srgbClr val="0069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8328" y="1874520"/>
            <a:ext cx="25786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Female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38328" y="3026664"/>
            <a:ext cx="2578608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8328" y="3026664"/>
            <a:ext cx="25786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0" y="1444752"/>
            <a:ext cx="2788920" cy="2743200"/>
          </a:xfrm>
          <a:prstGeom prst="rect">
            <a:avLst/>
          </a:prstGeom>
          <a:solidFill>
            <a:srgbClr val="E3F2FD"/>
          </a:solidFill>
          <a:ln w="25400">
            <a:solidFill>
              <a:srgbClr val="1565C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0" y="1444752"/>
            <a:ext cx="2788920" cy="36576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6" name="Text 14"/>
          <p:cNvSpPr/>
          <p:nvPr/>
        </p:nvSpPr>
        <p:spPr>
          <a:xfrm>
            <a:off x="3291840" y="1444752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🔲  Device_Type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310128" y="1874520"/>
            <a:ext cx="2578608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10128" y="1874520"/>
            <a:ext cx="25786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310128" y="2642616"/>
            <a:ext cx="2578608" cy="713232"/>
          </a:xfrm>
          <a:prstGeom prst="rect">
            <a:avLst/>
          </a:prstGeom>
          <a:solidFill>
            <a:srgbClr val="1565C0"/>
          </a:solidFill>
          <a:ln w="25400">
            <a:solidFill>
              <a:srgbClr val="1565C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10128" y="2642616"/>
            <a:ext cx="25786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Mobile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310128" y="3410712"/>
            <a:ext cx="2578608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10128" y="3410712"/>
            <a:ext cx="25786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Tablet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172200" y="1444752"/>
            <a:ext cx="2788920" cy="2743200"/>
          </a:xfrm>
          <a:prstGeom prst="rect">
            <a:avLst/>
          </a:prstGeom>
          <a:solidFill>
            <a:srgbClr val="F3E5F5"/>
          </a:solidFill>
          <a:ln w="25400">
            <a:solidFill>
              <a:srgbClr val="6A1B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172200" y="1444752"/>
            <a:ext cx="2788920" cy="365760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25" name="Text 23"/>
          <p:cNvSpPr/>
          <p:nvPr/>
        </p:nvSpPr>
        <p:spPr>
          <a:xfrm>
            <a:off x="6263640" y="1444752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🔲  Payment_Method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281928" y="1874520"/>
            <a:ext cx="2578608" cy="521208"/>
          </a:xfrm>
          <a:prstGeom prst="rect">
            <a:avLst/>
          </a:prstGeom>
          <a:solidFill>
            <a:srgbClr val="6A1B9A"/>
          </a:solidFill>
          <a:ln w="25400">
            <a:solidFill>
              <a:srgbClr val="6A1B9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81928" y="1874520"/>
            <a:ext cx="257860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Credit Card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281928" y="2450592"/>
            <a:ext cx="2578608" cy="521208"/>
          </a:xfrm>
          <a:prstGeom prst="rect">
            <a:avLst/>
          </a:prstGeom>
          <a:solidFill>
            <a:srgbClr val="FFFFFF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81928" y="2450592"/>
            <a:ext cx="257860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UPI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281928" y="3026664"/>
            <a:ext cx="2578608" cy="521208"/>
          </a:xfrm>
          <a:prstGeom prst="rect">
            <a:avLst/>
          </a:prstGeom>
          <a:solidFill>
            <a:srgbClr val="FFFFFF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81928" y="3026664"/>
            <a:ext cx="257860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Banking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281928" y="3602736"/>
            <a:ext cx="2578608" cy="521208"/>
          </a:xfrm>
          <a:prstGeom prst="rect">
            <a:avLst/>
          </a:prstGeom>
          <a:solidFill>
            <a:srgbClr val="FFFFFF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81928" y="3602736"/>
            <a:ext cx="257860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28600" y="4315968"/>
            <a:ext cx="8686800" cy="502920"/>
          </a:xfrm>
          <a:prstGeom prst="rect">
            <a:avLst/>
          </a:prstGeom>
          <a:solidFill>
            <a:srgbClr val="E0F7FA"/>
          </a:solidFill>
          <a:ln w="25400">
            <a:solidFill>
              <a:srgbClr val="0097A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" y="4352544"/>
            <a:ext cx="8412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Result after selecting Female + Mobile + Credit Card: Pivot table instantly shows ONLY orders matching all 3 filters — no formulas, no manual work!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4A148C"/>
          </a:solidFill>
          <a:ln/>
        </p:spPr>
      </p:sp>
      <p:sp>
        <p:nvSpPr>
          <p:cNvPr id="37" name="Text 35"/>
          <p:cNvSpPr/>
          <p:nvPr/>
        </p:nvSpPr>
        <p:spPr>
          <a:xfrm>
            <a:off x="0" y="4901184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E9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Slicer can control multiple Pivot Tables on the same sheet — perfect for dashboards!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9144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TIPS &amp; BEST PRACTICES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FFB300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" y="804672"/>
            <a:ext cx="429768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CF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804672"/>
            <a:ext cx="73152" cy="1261872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7" name="Text 5"/>
          <p:cNvSpPr/>
          <p:nvPr/>
        </p:nvSpPr>
        <p:spPr>
          <a:xfrm>
            <a:off x="393192" y="8961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🗃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93192" y="133502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Excel Table Format First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93192" y="1609344"/>
            <a:ext cx="40416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creating a pivot, convert your data to an Excel Table (Ctrl+T). This ensures new rows are auto-included when you refresh.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09160" y="804672"/>
            <a:ext cx="429768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CF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804672"/>
            <a:ext cx="73152" cy="1261872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2" name="Text 10"/>
          <p:cNvSpPr/>
          <p:nvPr/>
        </p:nvSpPr>
        <p:spPr>
          <a:xfrm>
            <a:off x="4873752" y="8961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🏷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873752" y="133502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Your Columns Clearly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73752" y="1609344"/>
            <a:ext cx="40416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 like "Product_Category", "Shipping_Cost" make pivot field names readable. Avoid blanks or merged cells in headers.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28600" y="2176272"/>
            <a:ext cx="429768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CF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28600" y="2176272"/>
            <a:ext cx="73152" cy="1261872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17" name="Text 15"/>
          <p:cNvSpPr/>
          <p:nvPr/>
        </p:nvSpPr>
        <p:spPr>
          <a:xfrm>
            <a:off x="393192" y="22677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📅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393192" y="270662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Dates Automatically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93192" y="2980944"/>
            <a:ext cx="40416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Order_Date to Rows → Right-click → Group → Choose Month/Quarter/Year. Excel auto-groups all dates for time-series analysis.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09160" y="2176272"/>
            <a:ext cx="429768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CF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09160" y="2176272"/>
            <a:ext cx="73152" cy="1261872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22" name="Text 20"/>
          <p:cNvSpPr/>
          <p:nvPr/>
        </p:nvSpPr>
        <p:spPr>
          <a:xfrm>
            <a:off x="4873752" y="22677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💰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4873752" y="270662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Values as Currency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73752" y="2980944"/>
            <a:ext cx="40416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Values area → click the field → Value Field Settings → Number Format → Currency. Makes reports professional and readable.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28600" y="3547872"/>
            <a:ext cx="429768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CF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28600" y="3547872"/>
            <a:ext cx="73152" cy="1261872"/>
          </a:xfrm>
          <a:prstGeom prst="rect">
            <a:avLst/>
          </a:prstGeom>
          <a:solidFill>
            <a:srgbClr val="0097A7"/>
          </a:solidFill>
          <a:ln/>
        </p:spPr>
      </p:sp>
      <p:sp>
        <p:nvSpPr>
          <p:cNvPr id="27" name="Text 25"/>
          <p:cNvSpPr/>
          <p:nvPr/>
        </p:nvSpPr>
        <p:spPr>
          <a:xfrm>
            <a:off x="393192" y="36393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🔗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393192" y="407822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Slicers to Multiple Pivots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93192" y="4352544"/>
            <a:ext cx="40416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Right-click a Slicer → Report Connections → tick all pivot tables. One click now filters your entire dashboard.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09160" y="3547872"/>
            <a:ext cx="429768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CF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09160" y="3547872"/>
            <a:ext cx="73152" cy="1261872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32" name="Text 30"/>
          <p:cNvSpPr/>
          <p:nvPr/>
        </p:nvSpPr>
        <p:spPr>
          <a:xfrm>
            <a:off x="4873752" y="36393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🔄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4873752" y="407822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Refresh After Data Changes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873752" y="4352544"/>
            <a:ext cx="40416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orders added? Right-click pivot → Refresh, or use Data → Refresh All. Otherwise pivot shows stale numbers.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36" name="Text 34"/>
          <p:cNvSpPr/>
          <p:nvPr/>
        </p:nvSpPr>
        <p:spPr>
          <a:xfrm>
            <a:off x="0" y="4901184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Following these tips will make your dashboards faster, cleaner, and more impactful.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97A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65776"/>
            <a:ext cx="9144000" cy="73152"/>
          </a:xfrm>
          <a:prstGeom prst="rect">
            <a:avLst/>
          </a:prstGeom>
          <a:solidFill>
            <a:srgbClr val="FFB3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73152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Learned Today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1207008"/>
            <a:ext cx="4251960" cy="1097280"/>
          </a:xfrm>
          <a:prstGeom prst="rect">
            <a:avLst/>
          </a:prstGeom>
          <a:solidFill>
            <a:srgbClr val="0D1B2A"/>
          </a:solidFill>
          <a:ln w="19050">
            <a:solidFill>
              <a:srgbClr val="0097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207008"/>
            <a:ext cx="4251960" cy="54864"/>
          </a:xfrm>
          <a:prstGeom prst="rect">
            <a:avLst/>
          </a:prstGeom>
          <a:solidFill>
            <a:srgbClr val="0097A7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1316736"/>
            <a:ext cx="3977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Pivot Table — WHAT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1664208"/>
            <a:ext cx="3977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drag-and-drop summarisation tool. No formulas needed.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09160" y="1207008"/>
            <a:ext cx="4251960" cy="1097280"/>
          </a:xfrm>
          <a:prstGeom prst="rect">
            <a:avLst/>
          </a:prstGeom>
          <a:solidFill>
            <a:srgbClr val="0D1B2A"/>
          </a:solidFill>
          <a:ln w="19050">
            <a:solidFill>
              <a:srgbClr val="1565C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1207008"/>
            <a:ext cx="4251960" cy="54864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2" name="Text 10"/>
          <p:cNvSpPr/>
          <p:nvPr/>
        </p:nvSpPr>
        <p:spPr>
          <a:xfrm>
            <a:off x="4846320" y="1316736"/>
            <a:ext cx="3977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Pivot Table — WHY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46320" y="1664208"/>
            <a:ext cx="3977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Speed, flexibility, drill-down, auto-refresh, and chart-ready insights.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2441448"/>
            <a:ext cx="4251960" cy="1097280"/>
          </a:xfrm>
          <a:prstGeom prst="rect">
            <a:avLst/>
          </a:prstGeom>
          <a:solidFill>
            <a:srgbClr val="0D1B2A"/>
          </a:solidFill>
          <a:ln w="19050">
            <a:solidFill>
              <a:srgbClr val="0069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441448"/>
            <a:ext cx="4251960" cy="54864"/>
          </a:xfrm>
          <a:prstGeom prst="rect">
            <a:avLst/>
          </a:prstGeom>
          <a:solidFill>
            <a:srgbClr val="00695C"/>
          </a:solidFill>
          <a:ln/>
        </p:spPr>
      </p:sp>
      <p:sp>
        <p:nvSpPr>
          <p:cNvPr id="16" name="Text 14"/>
          <p:cNvSpPr/>
          <p:nvPr/>
        </p:nvSpPr>
        <p:spPr>
          <a:xfrm>
            <a:off x="411480" y="2551176"/>
            <a:ext cx="3977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Pivot Table — HOW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11480" y="2898648"/>
            <a:ext cx="3977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data → Insert → PivotTable → Drag fields to Rows/Columns/Values/Filters.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09160" y="2441448"/>
            <a:ext cx="4251960" cy="1097280"/>
          </a:xfrm>
          <a:prstGeom prst="rect">
            <a:avLst/>
          </a:prstGeom>
          <a:solidFill>
            <a:srgbClr val="0D1B2A"/>
          </a:solidFill>
          <a:ln w="19050">
            <a:solidFill>
              <a:srgbClr val="6A1B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09160" y="2441448"/>
            <a:ext cx="4251960" cy="54864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20" name="Text 18"/>
          <p:cNvSpPr/>
          <p:nvPr/>
        </p:nvSpPr>
        <p:spPr>
          <a:xfrm>
            <a:off x="4846320" y="2551176"/>
            <a:ext cx="3977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Slicer — WHAT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46320" y="2898648"/>
            <a:ext cx="3977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clickable filter buttons connected to your pivot table.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74320" y="3675888"/>
            <a:ext cx="4251960" cy="1097280"/>
          </a:xfrm>
          <a:prstGeom prst="rect">
            <a:avLst/>
          </a:prstGeom>
          <a:solidFill>
            <a:srgbClr val="0D1B2A"/>
          </a:solidFill>
          <a:ln w="19050">
            <a:solidFill>
              <a:srgbClr val="E651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74320" y="3675888"/>
            <a:ext cx="4251960" cy="54864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24" name="Text 22"/>
          <p:cNvSpPr/>
          <p:nvPr/>
        </p:nvSpPr>
        <p:spPr>
          <a:xfrm>
            <a:off x="411480" y="3785616"/>
            <a:ext cx="3977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Slicer — WHY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11480" y="4133088"/>
            <a:ext cx="3977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Faster, clearer, sharable — perfect for dashboards &amp; presentations.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709160" y="3675888"/>
            <a:ext cx="4251960" cy="1097280"/>
          </a:xfrm>
          <a:prstGeom prst="rect">
            <a:avLst/>
          </a:prstGeom>
          <a:solidFill>
            <a:srgbClr val="0D1B2A"/>
          </a:solidFill>
          <a:ln w="19050">
            <a:solidFill>
              <a:srgbClr val="C6282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09160" y="3675888"/>
            <a:ext cx="4251960" cy="54864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28" name="Text 26"/>
          <p:cNvSpPr/>
          <p:nvPr/>
        </p:nvSpPr>
        <p:spPr>
          <a:xfrm>
            <a:off x="4846320" y="3785616"/>
            <a:ext cx="3977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Slicer — HOW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846320" y="4133088"/>
            <a:ext cx="3977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PivotTable Analyze → Insert Slicer → pick fields → click to filter.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828800" y="4800600"/>
            <a:ext cx="5486400" cy="228600"/>
          </a:xfrm>
          <a:prstGeom prst="rect">
            <a:avLst/>
          </a:prstGeom>
          <a:solidFill>
            <a:srgbClr val="0097A7"/>
          </a:solidFill>
          <a:ln/>
        </p:spPr>
      </p:sp>
      <p:sp>
        <p:nvSpPr>
          <p:cNvPr id="31" name="Text 29"/>
          <p:cNvSpPr/>
          <p:nvPr/>
        </p:nvSpPr>
        <p:spPr>
          <a:xfrm>
            <a:off x="18288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Start with your Sales dataset — create a pivot in under 2 minutes!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Excel Pivot Tables &amp; Slicers</dc:title>
  <dc:subject>PptxGenJS Presentation</dc:subject>
  <dc:creator>PptxGenJS</dc:creator>
  <cp:lastModifiedBy>PptxGenJS</cp:lastModifiedBy>
  <cp:revision>1</cp:revision>
  <dcterms:created xsi:type="dcterms:W3CDTF">2026-03-26T02:19:39Z</dcterms:created>
  <dcterms:modified xsi:type="dcterms:W3CDTF">2026-03-26T02:19:39Z</dcterms:modified>
</cp:coreProperties>
</file>