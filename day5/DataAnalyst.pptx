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8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66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47385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8580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THINKING LIKE 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8412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4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Analyst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502920" y="269748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BBA → Data Analytics Role </a:t>
            </a:r>
          </a:p>
        </p:txBody>
      </p:sp>
      <p:sp>
        <p:nvSpPr>
          <p:cNvPr id="7" name="Shape 5"/>
          <p:cNvSpPr/>
          <p:nvPr/>
        </p:nvSpPr>
        <p:spPr>
          <a:xfrm>
            <a:off x="502920" y="3200400"/>
            <a:ext cx="365760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3474720"/>
            <a:ext cx="274320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12648" y="35661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MODULES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12648" y="388620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· Mode · Median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· Std Dev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29000" y="3474720"/>
            <a:ext cx="274320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538728" y="35661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38728" y="388620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 Customer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Case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55080" y="3474720"/>
            <a:ext cx="274320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64808" y="35661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64808" y="388620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Analytically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Confidently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2801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STRUCTURE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2062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5-Module Learning Journey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28600" y="1051560"/>
            <a:ext cx="1600200" cy="3749040"/>
          </a:xfrm>
          <a:prstGeom prst="rect">
            <a:avLst/>
          </a:prstGeom>
          <a:solidFill>
            <a:srgbClr val="F8FAFC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51560"/>
            <a:ext cx="1600200" cy="6858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06984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8600" y="13716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" y="1874520"/>
            <a:ext cx="685800" cy="685800"/>
          </a:xfrm>
          <a:prstGeom prst="ellipse">
            <a:avLst/>
          </a:prstGeom>
          <a:solidFill>
            <a:srgbClr val="3B82F6">
              <a:alpha val="13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8745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92608" y="267004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Value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8328" y="3182112"/>
            <a:ext cx="137160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608" y="32918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Q: What is average?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984248" y="1051560"/>
            <a:ext cx="1600200" cy="3749040"/>
          </a:xfrm>
          <a:prstGeom prst="rect">
            <a:avLst/>
          </a:prstGeom>
          <a:solidFill>
            <a:srgbClr val="F8FAFC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984248" y="1051560"/>
            <a:ext cx="1600200" cy="6858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84248" y="106984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984248" y="13716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441448" y="1874520"/>
            <a:ext cx="685800" cy="685800"/>
          </a:xfrm>
          <a:prstGeom prst="ellipse">
            <a:avLst/>
          </a:prstGeom>
          <a:solidFill>
            <a:srgbClr val="10B981">
              <a:alpha val="13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41448" y="18745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2048256" y="267004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093976" y="3182112"/>
            <a:ext cx="137160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48256" y="32918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Q: What sells most?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739896" y="1051560"/>
            <a:ext cx="1600200" cy="3749040"/>
          </a:xfrm>
          <a:prstGeom prst="rect">
            <a:avLst/>
          </a:prstGeom>
          <a:solidFill>
            <a:srgbClr val="F8FAFC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739896" y="1051560"/>
            <a:ext cx="1600200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39896" y="106984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739896" y="13716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197096" y="1874520"/>
            <a:ext cx="685800" cy="685800"/>
          </a:xfrm>
          <a:prstGeom prst="ellipse">
            <a:avLst/>
          </a:prstGeom>
          <a:solidFill>
            <a:srgbClr val="F59E0B">
              <a:alpha val="13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97096" y="18745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3803904" y="267004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Representation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849624" y="3182112"/>
            <a:ext cx="13716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03904" y="32918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Q: What is typical pay?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95544" y="1051560"/>
            <a:ext cx="1600200" cy="3749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495544" y="1051560"/>
            <a:ext cx="1600200" cy="6858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95544" y="106984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495544" y="13716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5952744" y="1874520"/>
            <a:ext cx="685800" cy="685800"/>
          </a:xfrm>
          <a:prstGeom prst="ellipse">
            <a:avLst/>
          </a:prstGeom>
          <a:solidFill>
            <a:srgbClr val="EF4444">
              <a:alpha val="13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52744" y="18745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5559552" y="267004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&amp; Risk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605272" y="3182112"/>
            <a:ext cx="1371600" cy="3657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59552" y="32918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Q: How consistent?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251192" y="1051560"/>
            <a:ext cx="1600200" cy="3749040"/>
          </a:xfrm>
          <a:prstGeom prst="rect">
            <a:avLst/>
          </a:prstGeom>
          <a:solidFill>
            <a:srgbClr val="F8FAFC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251192" y="1051560"/>
            <a:ext cx="1600200" cy="6858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251192" y="106984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251192" y="13716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DEV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7708392" y="1874520"/>
            <a:ext cx="685800" cy="685800"/>
          </a:xfrm>
          <a:prstGeom prst="ellipse">
            <a:avLst/>
          </a:prstGeom>
          <a:solidFill>
            <a:srgbClr val="8B5CF6">
              <a:alpha val="13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708392" y="18745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7315200" y="267004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Usable Risk Measure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7360920" y="3182112"/>
            <a:ext cx="1371600" cy="3657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315200" y="32918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Q: How risky?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1828800" y="2880360"/>
            <a:ext cx="182880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584448" y="2880360"/>
            <a:ext cx="182880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340096" y="2880360"/>
            <a:ext cx="182880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095744" y="2880360"/>
            <a:ext cx="182880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Mean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11480" y="1234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is the Typical Value?"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11480" y="1737360"/>
            <a:ext cx="393192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783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  Historical Story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08483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estimating crop yield · Astronomers averaging star positions to reduce measurement error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2834640"/>
            <a:ext cx="393192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880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  Business Context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18211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FinTech: Analyse customer spending to report a single 'typical' number to the CEO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737360"/>
            <a:ext cx="4023360" cy="123444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92040" y="1783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Discovery Questions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92040" y="21031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What is the typical customer spend?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92040" y="23957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Give CEO one single number — which one?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92040" y="268833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What happens when we add an outlier?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3063240"/>
            <a:ext cx="4023360" cy="1691640"/>
          </a:xfrm>
          <a:prstGeom prst="rect">
            <a:avLst/>
          </a:prstGeom>
          <a:solidFill>
            <a:srgbClr val="1E3A5F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92040" y="3108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Key Insight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92040" y="342900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is sensitive to outliers.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extreme value can completely mislead the CEO.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92040" y="42062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Aggregation thinking  →  Spotting misleading averages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11480" y="1234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is the Most Popular?"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11480" y="1737360"/>
            <a:ext cx="393192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783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  Historical Story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08483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markets — merchants tracked the most sold goods to manage stock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2834640"/>
            <a:ext cx="393192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880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  Business Context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18211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E-commerce: Which product category has highest demand? Where to invest inventory?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737360"/>
            <a:ext cx="4023360" cy="123444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92040" y="1783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Discovery Questions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92040" y="21031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What product category sells the most?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92040" y="23957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Where should we invest inventory?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92040" y="268833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Is the most frequent also the most valuable?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3063240"/>
            <a:ext cx="4023360" cy="1691640"/>
          </a:xfrm>
          <a:prstGeom prst="rect">
            <a:avLst/>
          </a:prstGeom>
          <a:solidFill>
            <a:srgbClr val="0E2F22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92040" y="3108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Key Insight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92040" y="342900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= most frequent value.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popular item isn't always the highest value.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92040" y="42062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Demand sensing  →  Frequency vs value thinking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Median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11480" y="12344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is Fair Representation?"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11480" y="1737360"/>
            <a:ext cx="393192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783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  Historical Story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08483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inequality debates — economists sought a 'fair' measure that isn't skewed by billionaires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2834640"/>
            <a:ext cx="393192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880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  Business Context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18211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Analytics: What is the 'typical' employee salary in a skewed distribution?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737360"/>
            <a:ext cx="4023360" cy="123444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92040" y="1783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Discovery Questions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92040" y="21031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What is the typical employee salary?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92040" y="23957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Is the mean salary misleading here?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92040" y="268833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Which measure protects against bias?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3063240"/>
            <a:ext cx="4023360" cy="1691640"/>
          </a:xfrm>
          <a:prstGeom prst="rect">
            <a:avLst/>
          </a:prstGeom>
          <a:solidFill>
            <a:srgbClr val="2D1F00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92040" y="3108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Key Insight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92040" y="342900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= middle value = fair representation.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Resistant to extreme values — ethical reporting.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92040" y="42062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Skewness understanding  →  Ethical data reporting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Variance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11480" y="1234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Spread Out is the Data? = Risk"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11480" y="1737360"/>
            <a:ext cx="393192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783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  Historical Story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08483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 &amp; measurement error — same average reading, but which instrument is more reliable?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2834640"/>
            <a:ext cx="393192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880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  Business Context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18211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Logistics: Two delivery systems with same avg time — which is more reliable?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737360"/>
            <a:ext cx="4023360" cy="1234440"/>
          </a:xfrm>
          <a:prstGeom prst="rect">
            <a:avLst/>
          </a:prstGeom>
          <a:solidFill>
            <a:srgbClr val="1E293B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92040" y="1783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Discovery Questions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92040" y="21031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Which delivery system is more reliable?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92040" y="23957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Both have the same mean — so why differ?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92040" y="268833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How do you measure consistency?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3063240"/>
            <a:ext cx="4023360" cy="1691640"/>
          </a:xfrm>
          <a:prstGeom prst="rect">
            <a:avLst/>
          </a:prstGeom>
          <a:solidFill>
            <a:srgbClr val="2D0000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92040" y="3108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Key Insight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92040" y="342900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mean ≠ same behaviour.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= risk. Variance quantifies unpredictability.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92040" y="42062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Stability analysis  →  Risk-based thinking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Standard Deviation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11480" y="1234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Risky is This Decision?"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11480" y="1737360"/>
            <a:ext cx="393192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783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  Historical Story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08483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variance interpretable — square-root gives us a measure in the same units as the data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2834640"/>
            <a:ext cx="393192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880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  Business Context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18211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analysis: Stable fund vs volatile fund — same return, different risk profile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737360"/>
            <a:ext cx="4023360" cy="1234440"/>
          </a:xfrm>
          <a:prstGeom prst="rect">
            <a:avLst/>
          </a:prstGeom>
          <a:solidFill>
            <a:srgbClr val="1E293B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92040" y="1783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Discovery Questions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92040" y="21031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Which stock is riskier for investors?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92040" y="23957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How far do values deviate on average?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92040" y="268833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Would you bet your money on this?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3063240"/>
            <a:ext cx="4023360" cy="1691640"/>
          </a:xfrm>
          <a:prstGeom prst="rect">
            <a:avLst/>
          </a:prstGeom>
          <a:solidFill>
            <a:srgbClr val="1A0F2E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92040" y="3108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Key Insight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92040" y="342900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 = interpretable risk in original units.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SD = higher volatility = riskier decision.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92040" y="42062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Risk quantification  →  Decisions under uncertainty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2801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PICTURE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2062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5 Concepts Connect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822960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15568"/>
            <a:ext cx="201168" cy="6583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1704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14447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Point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26080" y="1389888"/>
            <a:ext cx="73152" cy="12801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11887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typical?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1865376"/>
            <a:ext cx="822960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1865376"/>
            <a:ext cx="201168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1920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7240" y="21945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Centre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926080" y="2139696"/>
            <a:ext cx="73152" cy="12801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0" y="193852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fair?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2615184"/>
            <a:ext cx="822960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2615184"/>
            <a:ext cx="201168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26700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77240" y="29443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Frequency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926080" y="2889504"/>
            <a:ext cx="73152" cy="12801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0" y="2688336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popular?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57200" y="3364992"/>
            <a:ext cx="822960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364992"/>
            <a:ext cx="201168" cy="6583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34198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77240" y="369417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Risk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926080" y="3639312"/>
            <a:ext cx="73152" cy="12801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0" y="3438144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spread out?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57200" y="4114800"/>
            <a:ext cx="822960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" y="4114800"/>
            <a:ext cx="201168" cy="6583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" y="41696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Dev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77240" y="44439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Usable Risk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926080" y="4389120"/>
            <a:ext cx="73152" cy="12801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0" y="4187952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risky?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CAPSTONE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2062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FinTech Customer Intelligence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011680" cy="3566160"/>
          </a:xfrm>
          <a:prstGeom prst="rect">
            <a:avLst/>
          </a:prstGeom>
          <a:solidFill>
            <a:srgbClr val="1E293B"/>
          </a:solidFill>
          <a:ln w="12700">
            <a:solidFill>
              <a:srgbClr val="94A3B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75488" y="1252728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 Dataset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" y="1627632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Customer spend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" y="2011680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Transaction frequency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" y="2395728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Category usage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06040" y="1188720"/>
            <a:ext cx="2011680" cy="3566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06040" y="1188720"/>
            <a:ext cx="2011680" cy="3840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97480" y="121615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Analysis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97480" y="16642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Mean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97480" y="20848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Median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697480" y="25054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Mode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697480" y="2926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Variance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697480" y="334670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Std Deviation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46320" y="1188720"/>
            <a:ext cx="1920240" cy="356616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46320" y="1188720"/>
            <a:ext cx="192024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121615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Insight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37760" y="166420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Who are premium users?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37760" y="221284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Who are risky users?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37760" y="276148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Is the average misleading?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949440" y="1188720"/>
            <a:ext cx="1874520" cy="3566160"/>
          </a:xfrm>
          <a:prstGeom prst="rect">
            <a:avLst/>
          </a:prstGeom>
          <a:solidFill>
            <a:srgbClr val="1E293B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949440" y="1188720"/>
            <a:ext cx="1874520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40880" y="1216152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Decision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040880" y="166420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Credit limit strategy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040880" y="221284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Marketing segmentation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040880" y="276148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Risk control plan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731520"/>
            <a:ext cx="7315200" cy="2423160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731520"/>
            <a:ext cx="201168" cy="24231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914400"/>
            <a:ext cx="6766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i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"Anyone can calculate numbers.</a:t>
            </a:r>
            <a:endParaRPr lang="en-US" sz="2600" dirty="0"/>
          </a:p>
          <a:p>
            <a:pPr marL="0" indent="0" algn="l">
              <a:buNone/>
            </a:pPr>
            <a:r>
              <a:rPr lang="en-US" sz="2600" b="1" i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data analyst knows which</a:t>
            </a:r>
            <a:endParaRPr lang="en-US" sz="2600" dirty="0"/>
          </a:p>
          <a:p>
            <a:pPr marL="0" indent="0" algn="l">
              <a:buNone/>
            </a:pPr>
            <a:r>
              <a:rPr lang="en-US" sz="2600" b="1" i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number to trust."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1234440" y="3429000"/>
            <a:ext cx="2057400" cy="1325880"/>
          </a:xfrm>
          <a:prstGeom prst="rect">
            <a:avLst/>
          </a:prstGeom>
          <a:solidFill>
            <a:srgbClr val="162032"/>
          </a:solidFill>
          <a:ln w="12700">
            <a:solidFill>
              <a:srgbClr val="06B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234440" y="3502152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🧠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234440" y="397764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Analytically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0" y="3429000"/>
            <a:ext cx="2057400" cy="1325880"/>
          </a:xfrm>
          <a:prstGeom prst="rect">
            <a:avLst/>
          </a:prstGeom>
          <a:solidFill>
            <a:srgbClr val="162032"/>
          </a:solidFill>
          <a:ln w="12700">
            <a:solidFill>
              <a:srgbClr val="06B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0" y="3502152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❓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657600" y="397764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80760" y="3429000"/>
            <a:ext cx="2057400" cy="1325880"/>
          </a:xfrm>
          <a:prstGeom prst="rect">
            <a:avLst/>
          </a:prstGeom>
          <a:solidFill>
            <a:srgbClr val="162032"/>
          </a:solidFill>
          <a:ln w="12700">
            <a:solidFill>
              <a:srgbClr val="06B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080760" y="3502152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✅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080760" y="397764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Better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Data Analytics Bootcamp  ·  BBA Edition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751</Words>
  <Application>Microsoft Office PowerPoint</Application>
  <PresentationFormat>On-screen Show (16:9)</PresentationFormat>
  <Paragraphs>174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Thinking Like a Data Analyst</dc:title>
  <dc:subject>PptxGenJS Presentation</dc:subject>
  <dc:creator>PptxGenJS</dc:creator>
  <cp:lastModifiedBy>Srajan shukla</cp:lastModifiedBy>
  <cp:revision>2</cp:revision>
  <dcterms:created xsi:type="dcterms:W3CDTF">2026-03-30T01:58:10Z</dcterms:created>
  <dcterms:modified xsi:type="dcterms:W3CDTF">2026-03-30T02:05:37Z</dcterms:modified>
</cp:coreProperties>
</file>