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417320"/>
            <a:ext cx="6949440" cy="2331720"/>
          </a:xfrm>
          <a:prstGeom prst="rect">
            <a:avLst/>
          </a:prstGeom>
          <a:solidFill>
            <a:srgbClr val="16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600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2468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 — Step-by-Step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 |  Table Method  |  Exam Ready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Correlation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step-by-step (easy table method)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do manual correlation calculation step-by-step in an easy table method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how it comes in exams).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1371600"/>
          <a:ext cx="3657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(Study Hours)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(Marks)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1371600"/>
            <a:ext cx="182880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371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8745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observations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study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marks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Find Mean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685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7132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Mean of X and 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25880"/>
            <a:ext cx="3931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of X  (X̄)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7647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 = (2 + 4 + 6 + 8) / 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203704"/>
            <a:ext cx="35661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037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X̄  =  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325880"/>
            <a:ext cx="3931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of Y  (Ȳ)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7647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Ȳ = (40 + 50 + 60 + 70) / 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2203704"/>
            <a:ext cx="35661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2037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Ȳ  =  55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" y="39776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mean values are used to calculate deviations for each data point.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Make the Calculation Table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685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7132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deviations, products, and squares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324612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1005840"/>
                <a:gridCol w="822960"/>
                <a:gridCol w="1554480"/>
                <a:gridCol w="1417320"/>
                <a:gridCol w="1417320"/>
              </a:tblGrid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X̄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− Ȳ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(X−X̄)(Y−Ȳ)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(X−X̄)²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(Y−Ȳ)²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Put Values in Formula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685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7132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Pearson's r formula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83210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Σ(X−X̄)(Y−Ȳ)  /  √[ Σ(X−X̄)² × Σ(Y−Ȳ)² 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83210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933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100 / √(20 × 500)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1480" y="2633472"/>
            <a:ext cx="8321040" cy="530352"/>
          </a:xfrm>
          <a:prstGeom prst="rect">
            <a:avLst/>
          </a:prstGeom>
          <a:solidFill>
            <a:srgbClr val="034F84"/>
          </a:solidFill>
          <a:ln w="12700">
            <a:solidFill>
              <a:srgbClr val="034F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3347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100 / √10000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1480" y="3273552"/>
            <a:ext cx="832104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735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100 / 100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11480" y="3913632"/>
            <a:ext cx="8321040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136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— Final Answer &amp; Interpretation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8321040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040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(r) = +1  →  Perfect Positive Correlation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More study hours → Marks increase perfectly.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1901952"/>
          <a:ext cx="4937760" cy="288036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</a:tblGrid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negative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Shortcut Table Method — Exam Trick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749808"/>
          <a:ext cx="6400800" cy="333756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</a:tblGrid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X̄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mean of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− Ȳ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− mean of 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X̄)(Y − Ȳ)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X̄)² and (Y − Ȳ)²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all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in 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251960"/>
            <a:ext cx="83210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Memory Trick:  Correlation = (Multiply differences sum) / √(Square sum × Square sum)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Rank Correlation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— very easy, often asked in exams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Spearman &amp; Formula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3931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13232"/>
            <a:ext cx="39319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Spearman When: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33856"/>
            <a:ext cx="365760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 rank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outliers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is not linear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rank comparison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713232"/>
            <a:ext cx="4069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13232"/>
            <a:ext cx="40690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Formula (ρ):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33856"/>
            <a:ext cx="40690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3385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(6 × Σd²) / n(n² − 1)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810512"/>
          <a:ext cx="4069080" cy="1463040"/>
        </p:xfrm>
        <a:graphic>
          <a:graphicData uri="http://schemas.openxmlformats.org/drawingml/2006/table">
            <a:tbl>
              <a:tblPr/>
              <a:tblGrid>
                <a:gridCol w="914400"/>
                <a:gridCol w="3154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ranks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observations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correlation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Example — Dataset &amp; Rankings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Dataset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3931920" cy="2194560"/>
        </p:xfrm>
        <a:graphic>
          <a:graphicData uri="http://schemas.openxmlformats.org/drawingml/2006/table">
            <a:tbl>
              <a:tblPr/>
              <a:tblGrid>
                <a:gridCol w="914400"/>
                <a:gridCol w="150876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480560" y="6858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Convert to Rank  (Rank 1 = Highest)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24128"/>
          <a:ext cx="4343400" cy="2194560"/>
        </p:xfrm>
        <a:graphic>
          <a:graphicData uri="http://schemas.openxmlformats.org/drawingml/2006/table">
            <a:tbl>
              <a:tblPr/>
              <a:tblGrid>
                <a:gridCol w="685800"/>
                <a:gridCol w="822960"/>
                <a:gridCol w="822960"/>
                <a:gridCol w="77724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R(M)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42245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rank number = Highest marks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Calculate d and d²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685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7132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rank difference and square it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25880"/>
          <a:ext cx="7315200" cy="29260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737360"/>
                <a:gridCol w="173736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M −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914400" y="4389120"/>
            <a:ext cx="7315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43891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Σd² = 6     n = 5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Put Values in Spearman Formula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685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7132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Substitute Σd² = 6,  n = 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83210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(6 × Σd²) / n(n² − 1)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2651760" cy="658368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5681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(6 × 6) / 5(5² − 1)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7248" y="1956816"/>
            <a:ext cx="2651760" cy="658368"/>
          </a:xfrm>
          <a:prstGeom prst="rect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95681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1 − 36 / 5(25 − 1)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34456" y="1956816"/>
            <a:ext cx="26517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34456" y="195681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1 − 36 / (5 × 24)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962656"/>
            <a:ext cx="2651760" cy="658368"/>
          </a:xfrm>
          <a:prstGeom prst="rect">
            <a:avLst/>
          </a:prstGeom>
          <a:solidFill>
            <a:srgbClr val="034F84"/>
          </a:solidFill>
          <a:ln w="12700">
            <a:solidFill>
              <a:srgbClr val="034F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626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1 − 36 / 120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27248" y="2962656"/>
            <a:ext cx="265176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9626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1 − 0.3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34456" y="2962656"/>
            <a:ext cx="2651760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34456" y="29626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0.7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— Final Answer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83210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040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Correlation = 0.7  →  Strong Positive Relationship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rank high in Math also rank high in Science.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83210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385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Memory Trick — Step-by-Step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2404872"/>
          <a:ext cx="5486400" cy="224028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</a:tblGrid>
              <a:tr h="373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data to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d (rank difference)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d²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d²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in 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164592"/>
            <a:ext cx="54864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vs Spearman — Final Clear Difference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49808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actual values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rank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relationship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relationship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outliers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sensitive to outliers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uses mean &amp; std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uses rank difference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22192"/>
            <a:ext cx="82296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82219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Pearson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continuous &amp; normally distributed.  </a:t>
            </a:r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Spearman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ranked or has outliers.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194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325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actual values, means &amp; std dev, linear relationships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2194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19933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ranks, handles outliers &amp; non-linear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2194560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609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Method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66090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→ products → squares → sum → formula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2194560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284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32841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positive correlation (Pearson result)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2194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95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0.7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9959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rank correlation (Spearman result)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Analysis: Pearson &amp; Spearman</dc:title>
  <dc:subject>PptxGenJS Presentation</dc:subject>
  <dc:creator>PptxGenJS</dc:creator>
  <cp:lastModifiedBy>PptxGenJS</cp:lastModifiedBy>
  <cp:revision>1</cp:revision>
  <dcterms:created xsi:type="dcterms:W3CDTF">2026-03-31T17:09:46Z</dcterms:created>
  <dcterms:modified xsi:type="dcterms:W3CDTF">2026-03-31T17:09:46Z</dcterms:modified>
</cp:coreProperties>
</file>