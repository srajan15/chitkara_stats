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Study Hours vs Score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99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08960"/>
            <a:ext cx="9144000" cy="228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365760"/>
            <a:ext cx="2560320" cy="2560320"/>
          </a:xfrm>
          <a:prstGeom prst="ellipse">
            <a:avLst/>
          </a:prstGeom>
          <a:solidFill>
            <a:srgbClr val="162244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274320"/>
            <a:ext cx="1463040" cy="1463040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99D6D0"/>
                </a:solidFill>
              </a:rPr>
              <a:t>STATISTICS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Correlation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B0D4D2"/>
                </a:solidFill>
              </a:rPr>
              <a:t>&amp; Its Methods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Pearson  </a:t>
            </a:r>
            <a:r>
              <a:rPr lang="en-US" sz="1600" dirty="0">
                <a:solidFill>
                  <a:srgbClr val="B0D4D2"/>
                </a:solidFill>
              </a:rPr>
              <a:t>  •  </a:t>
            </a:r>
            <a:r>
              <a:rPr lang="en-US" sz="1600" b="1" dirty="0">
                <a:solidFill>
                  <a:srgbClr val="FFFFFF"/>
                </a:solidFill>
              </a:rPr>
              <a:t>  Spearman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FBF1"/>
                </a:solidFill>
              </a:rPr>
              <a:t>Simple Language  •  Real Examples  •  Dataset Types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Correlation?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The relationship between two things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91440" cy="9601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Correlation tells us: when one thing changes, does another thing change too — and by how much?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2743200" cy="25603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76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Study Hours → Marks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More you study, higher your marks.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They move TOGETHER.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2743200" cy="2560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2176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37560" y="2706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Temperature → Ice Cream Sales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054096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Hotter the day, more ice cream sold.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 clear link!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103120"/>
            <a:ext cx="2743200" cy="2560320"/>
          </a:xfrm>
          <a:prstGeom prst="rect">
            <a:avLst/>
          </a:prstGeom>
          <a:solidFill>
            <a:srgbClr val="FFE4E6"/>
          </a:solidFill>
          <a:ln w="12700">
            <a:solidFill>
              <a:srgbClr val="FDA4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176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🧢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706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Shoe Size → Intelligence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054096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Bigger feet does NOT mean smarter.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No real link here!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</a:rPr>
              <a:t>💡 Correlation measures the strength and direction of a relationship between two variables.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Types of Correlation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Three possible relationships between variables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4160520"/>
          </a:xfrm>
          <a:prstGeom prst="rect">
            <a:avLst/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Positive Correlation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43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F46"/>
                </a:solidFill>
              </a:rPr>
              <a:t>r close to +1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📈  As X goes up → Y goes 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Examples: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Height &amp; Weight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Study Hours &amp; Exam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Temperature &amp; Electricity Use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777240"/>
            <a:ext cx="2743200" cy="4160520"/>
          </a:xfrm>
          <a:prstGeom prst="rect">
            <a:avLst/>
          </a:prstGeom>
          <a:solidFill>
            <a:srgbClr val="FFE4E6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777240"/>
            <a:ext cx="2743200" cy="38404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Negative Correlation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1243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1239"/>
                </a:solidFill>
              </a:rPr>
              <a:t>r close to −1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1627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📉  As X goes up → Y goes down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Examples: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2860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Speed &amp; Travel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Exercise &amp; Body Fat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Price &amp; Demand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777240"/>
            <a:ext cx="2743200" cy="416052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777240"/>
            <a:ext cx="2743200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 Correlation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1243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4155"/>
                </a:solidFill>
              </a:rPr>
              <a:t>r close to 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1627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➡️  No relationship at 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Examples: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2860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Shoe Size &amp; IQ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Hair Length &amp; 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Birthday &amp; Income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Pearson Correlation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The most common correlation method — for numbers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91440" cy="9144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Pearson measures how strongly two continuous (numeric) variables move in a straight line together. It gives a value between −1 and +1.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3931920" cy="11887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C9FF"/>
                </a:solidFill>
              </a:rPr>
              <a:t>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3042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 = Σ(x−x̄)(y−ȳ) / √[ Σ(x−x̄)² × Σ(y−ȳ)² 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1965960"/>
            <a:ext cx="4389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2029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What the value means: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3042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+0.7 to +1.0</a:t>
            </a:r>
            <a:r>
              <a:rPr lang="en-US" sz="1100" dirty="0">
                <a:solidFill>
                  <a:srgbClr val="1E293B"/>
                </a:solidFill>
              </a:rPr>
              <a:t>  =  Strong Positive
</a:t>
            </a:r>
            <a:r>
              <a:rPr lang="en-US" sz="1100" b="1" dirty="0">
                <a:solidFill>
                  <a:srgbClr val="475569"/>
                </a:solidFill>
              </a:rPr>
              <a:t>−0.3 to +0.3</a:t>
            </a:r>
            <a:r>
              <a:rPr lang="en-US" sz="1100" dirty="0">
                <a:solidFill>
                  <a:srgbClr val="1E293B"/>
                </a:solidFill>
              </a:rPr>
              <a:t>  =  Weak / None
</a:t>
            </a:r>
            <a:r>
              <a:rPr lang="en-US" sz="1100" b="1" dirty="0">
                <a:solidFill>
                  <a:srgbClr val="9F1239"/>
                </a:solidFill>
              </a:rPr>
              <a:t>−0.7 to −1.0</a:t>
            </a:r>
            <a:r>
              <a:rPr lang="en-US" sz="1100" dirty="0">
                <a:solidFill>
                  <a:srgbClr val="1E293B"/>
                </a:solidFill>
              </a:rPr>
              <a:t>  =  Strong Negative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✅ When to Use Pearson: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61188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Both variables are numeric (continuous)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Data is roughly normally distributed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Relationship between variables is linear (straight line)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 extreme outliers in the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Pearson — Step-by-Step Example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12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Dataset: Study Hours vs Exam Score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9264"/>
          <a:ext cx="3200400" cy="219456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Hours (X)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 (Y)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703320" y="658368"/>
            <a:ext cx="50749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03320" y="658368"/>
            <a:ext cx="50749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3794760" y="685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Calculate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94760" y="1078992"/>
            <a:ext cx="731520" cy="292608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2" name="Text 9"/>
          <p:cNvSpPr/>
          <p:nvPr/>
        </p:nvSpPr>
        <p:spPr>
          <a:xfrm>
            <a:off x="3794760" y="10789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17720" y="10789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Find the mean (average) of X and 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13716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x̄ = (2+4+6+8+10)/5 = 6     ȳ = (50+60+70+85+95)/5 = 72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94760" y="1847088"/>
            <a:ext cx="7315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3794760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17720" y="18470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Subtract the mean from each value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17720" y="213969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(x−x̄) and (y−ȳ) for each row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794760" y="2615184"/>
            <a:ext cx="731520" cy="292608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0" name="Text 17"/>
          <p:cNvSpPr/>
          <p:nvPr/>
        </p:nvSpPr>
        <p:spPr>
          <a:xfrm>
            <a:off x="3794760" y="26151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17720" y="261518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Multiply the differences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17720" y="29077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Σ(x−x̄)(y−ȳ) = sum of products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794760" y="3383280"/>
            <a:ext cx="7315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3794760" y="3383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17720" y="33832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Apply the formula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17720" y="36758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r = Σ(x−x̄)(y−ȳ) / √[Σ(x−x̄)² × Σ(y−ȳ)²]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794760" y="4151376"/>
            <a:ext cx="7315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794760" y="41513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17720" y="41513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 ≈ 0.99  →  Very Strong Positive Correlation!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617720" y="44439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More study hours = higher exam scores ✓</a:t>
            </a:r>
            <a:endParaRPr lang="en-US" sz="10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274320" y="3246120"/>
          <a:ext cx="33832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Pearson — What Datasets Can Be Used?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Examples from real life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43200" cy="34747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9509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🏥  Healthcare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3350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Height &amp; Weight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Age &amp; Blood Pressure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Calorie Intake &amp; BMI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9509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Business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3350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Ad Spend &amp; Revenue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Experience &amp; 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Price &amp; Sales Volume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2743200" cy="34747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6153912" y="9509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🎓  Education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0488" y="13350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Study Hours &amp; Marks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Attendance &amp; GPA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Teacher Exp &amp; Student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2743200" cy="34747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30083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🌦️  Environment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" y="33924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Temperature &amp; Ice Cream Sales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Rainfall &amp; Crop Yield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Humidity &amp; Power Use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71800"/>
            <a:ext cx="2743200" cy="34747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30083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🏋️  Sports/Fitness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33924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Training Hours &amp;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Age &amp; Race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Weight &amp; Lift Record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971800"/>
            <a:ext cx="2743200" cy="34747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6153912" y="30083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 Finance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33924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GDP &amp; Stock Index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Interest Rate &amp; House Price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Inflation &amp; Consumer Spending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</a:rPr>
              <a:t>💡  Pearson works best when BOTH variables are measured numbers (not ranks/categories) and the scatter plot shows a roughly straight-line pattern.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Spearman Correlation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Rank-based correlation — works for any order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914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Spearman converts data into RANKS first, then checks if the ranks move together. It works even when the data is not normally distributed or has outliers.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3931920" cy="11430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2494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rs = 1 − ( 6 × Σd² ) / ( n × (n²−1) 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2816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D4D2"/>
                </a:solidFill>
              </a:rPr>
              <a:t>d = difference between ranks of each pair,  n = number of pairs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34840" y="1920240"/>
            <a:ext cx="4389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984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Spearman vs Pearson: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2585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Uses RANKS, not raw values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Works on ordinal data (1st, 2nd, 3rd)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Not affected by outliers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Non-linear relationships still ok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✅ When to Use Spearman: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3872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Data is ordinal (rankings, ratings, surveys)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Data is NOT normally distributed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There are outliers in the dataset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Relationship is monotonic (not necessarily straight line)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Spearman — Step-by-Step Example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Dataset: Customer Satisfaction vs Loyalty Rank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5394963" cy="2270760"/>
        </p:xfrm>
        <a:graphic>
          <a:graphicData uri="http://schemas.openxmlformats.org/drawingml/2006/table">
            <a:tbl>
              <a:tblPr/>
              <a:tblGrid>
                <a:gridCol w="770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0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Satisfaction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 (X)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Loyalty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 (Y)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 X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 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 = Rx−Ry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d²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+1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97880" y="658368"/>
            <a:ext cx="2926080" cy="4343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6"/>
          <p:cNvSpPr/>
          <p:nvPr/>
        </p:nvSpPr>
        <p:spPr>
          <a:xfrm>
            <a:off x="5897880" y="658368"/>
            <a:ext cx="292608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685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Calculation Steps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1097280"/>
            <a:ext cx="274320" cy="27432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109728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Rank both X and Y from lowest to highest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75564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175564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Find d = Rank X − Rank Y for each row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2414016"/>
            <a:ext cx="274320" cy="27432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241401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Square d to get d²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0" y="307238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0" y="307238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Sum all d² values → Σd² = 0+0+1+1+0 = 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35040" y="3730752"/>
            <a:ext cx="274320" cy="27432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0" y="373075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Apply formula: rs = 1 − (6×2)/(5×(25−1))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438912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603504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0" y="438912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rs = 1 − 12/120 = 1 − 0.1 = 0.90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3154680"/>
            <a:ext cx="539496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57200" y="32004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</a:rPr>
              <a:t>Result: rs = 0.90  →  Very Strong Positive Correlation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7200" y="3547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Customers with higher satisfaction scores tend to have better loyalty ranks!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Spearman — What Datasets Can Be Used?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Works great with rankings, ratings, and non-normal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432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9509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 Customer Surveys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3350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Satisfaction Rating &amp; Loyalty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Product Rating &amp; Repurchase Rank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Service Score &amp; Recommendation Rank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9509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Competition / Sports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3350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Judges' Score Rank &amp; Final Rank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Training Rank &amp; Competition Rank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Coach Rating &amp; Player Performance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27432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153912" y="9509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🩺  Medicine / Psychology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0488" y="13350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Pain Level (1–10) &amp; Recovery Rank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Anxiety Score &amp; Sleep Quality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Disease Severity &amp; Quality of Life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27432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30083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📝  Education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" y="33924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Teacher Rank &amp; Student Outcome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Test Rank &amp; Project Rank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Attitude Score &amp; Academic Rank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71800"/>
            <a:ext cx="27432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30083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💼  HR / Management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33924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Interview Score &amp; Job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Ranked Skills &amp; Promotion Order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Leadership Rating &amp; Team Productivity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971800"/>
            <a:ext cx="27432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153912" y="30083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🛒  Market Research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3392424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Brand Preference Rank &amp; Sales Rank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Influencer Ranking &amp; Engagement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Product Popularity &amp; Review Rank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3AED"/>
                </a:solidFill>
              </a:rPr>
              <a:t>💡  Spearman works best when data is ordinal (ranked/rated), has outliers, or you're not sure about the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Pearson vs Spearman — Side-by-Side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Choose the right method for your data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3977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Pearson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Spearman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B5E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Continuous numeric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Ordinal / Ranked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B5E"/>
                          </a:solidFill>
                        </a:rPr>
                        <a:t>Distribution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Requires normal distribution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 assumption needed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B5E"/>
                          </a:solidFill>
                        </a:rPr>
                        <a:t>Outliers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Very sensitive to outliers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Not affected by outliers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B5E"/>
                          </a:solidFill>
                        </a:rPr>
                        <a:t>Relationship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Must be linear (straight line)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Can be any monotonic trend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B5E"/>
                          </a:solidFill>
                        </a:rPr>
                        <a:t>Formula Uses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Actual values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Ranks of values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B5E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Height, Weight, Temperature…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Survey ratings, rankings…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B5E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Faster computation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Slightly more steps (ranking)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🎯 Quick Rule: If your data has outliers or ranks → Spearman.  If it's clean numeric data → Pearson.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Same Question, Two Methods — A Real-World Example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54864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Do taller employees earn more salary?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503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📌 Scenario: A company wants to know if taller employees earn more. They have two versions of data: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4114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361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🔵 USE PEARSON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Dataset A — Actual Numbers
</a:t>
            </a:r>
            <a:r>
              <a:rPr lang="en-US" sz="1200" dirty="0">
                <a:solidFill>
                  <a:srgbClr val="1E293B"/>
                </a:solidFill>
              </a:rPr>
              <a:t>Height: 165, 170, 175, 180, 185 cm
Salary: ₹25k, ₹30k, ₹35k, ₹40k, ₹50k
</a:t>
            </a:r>
            <a:r>
              <a:rPr lang="en-US" sz="1200" b="1" dirty="0">
                <a:solidFill>
                  <a:srgbClr val="1E293B"/>
                </a:solidFill>
              </a:rPr>
              <a:t>Why Pearson?
</a:t>
            </a:r>
            <a:r>
              <a:rPr lang="en-US" sz="1200" dirty="0">
                <a:solidFill>
                  <a:srgbClr val="1E293B"/>
                </a:solidFill>
              </a:rPr>
              <a:t>• Both are continuous numbers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No major outliers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Distribution looks normal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Relationship is linear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508760"/>
            <a:ext cx="41148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361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🟡 USE SPEARMAN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Dataset B — Ranked Data
</a:t>
            </a:r>
            <a:r>
              <a:rPr lang="en-US" sz="1200" dirty="0">
                <a:solidFill>
                  <a:srgbClr val="1E293B"/>
                </a:solidFill>
              </a:rPr>
              <a:t>Height Rank: 1st, 2nd, 3rd, 4th, 5th
Salary Rank: 1st, 2nd, 3rd, 4th, 5th
</a:t>
            </a:r>
            <a:r>
              <a:rPr lang="en-US" sz="1200" b="1" dirty="0">
                <a:solidFill>
                  <a:srgbClr val="1E293B"/>
                </a:solidFill>
              </a:rPr>
              <a:t>Why Spearman?
</a:t>
            </a:r>
            <a:r>
              <a:rPr lang="en-US" sz="1200" dirty="0">
                <a:solidFill>
                  <a:srgbClr val="1E293B"/>
                </a:solidFill>
              </a:rPr>
              <a:t>• Data is already ranked (ordinal)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One employee's salary is extreme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Distribution is skewed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Rank comparison makes more sense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📌 Both methods will give similar answers if data is clean — but Spearman is safer when you're unsure!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99D6D0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06240" cy="1143000"/>
          </a:xfrm>
          <a:prstGeom prst="rect">
            <a:avLst/>
          </a:prstGeom>
          <a:solidFill>
            <a:srgbClr val="1E3A6E"/>
          </a:solidFill>
          <a:ln w="12700">
            <a:solidFill>
              <a:srgbClr val="2D50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0292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70992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D6D0"/>
                </a:solidFill>
              </a:rPr>
              <a:t>Correlation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Measures how two variables are related — positive, negative, or none.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206240" cy="1143000"/>
          </a:xfrm>
          <a:prstGeom prst="rect">
            <a:avLst/>
          </a:prstGeom>
          <a:solidFill>
            <a:srgbClr val="1E3A6E"/>
          </a:solidFill>
          <a:ln w="12700">
            <a:solidFill>
              <a:srgbClr val="2D50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25880"/>
            <a:ext cx="50292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70992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D6D0"/>
                </a:solidFill>
              </a:rPr>
              <a:t>Pearson Method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737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Use for clean, continuous numeric data with a linear relationship. Very precise.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206240" cy="1143000"/>
          </a:xfrm>
          <a:prstGeom prst="rect">
            <a:avLst/>
          </a:prstGeom>
          <a:solidFill>
            <a:srgbClr val="1E3A6E"/>
          </a:solidFill>
          <a:ln w="12700">
            <a:solidFill>
              <a:srgbClr val="2D50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51760"/>
            <a:ext cx="50292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03580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743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D6D0"/>
                </a:solidFill>
              </a:rPr>
              <a:t>Spearman Method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063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Use for ranked/ordinal data, or when outliers exist. More flexible and robust.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4206240" cy="1143000"/>
          </a:xfrm>
          <a:prstGeom prst="rect">
            <a:avLst/>
          </a:prstGeom>
          <a:solidFill>
            <a:srgbClr val="1E3A6E"/>
          </a:solidFill>
          <a:ln w="12700">
            <a:solidFill>
              <a:srgbClr val="2D50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51760"/>
            <a:ext cx="50292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303580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743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D6D0"/>
                </a:solidFill>
              </a:rPr>
              <a:t>Choosing the Right One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0632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Raw numbers with normal distribution → Pearson.  Rankings or skewed data → Spearman.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  •  Happy Learning! 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FBF1"/>
                </a:solidFill>
              </a:rPr>
              <a:t>Statistics made simple — one concept at a time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1484</Words>
  <Application>Microsoft Office PowerPoint</Application>
  <PresentationFormat>On-screen Show (16:9)</PresentationFormat>
  <Paragraphs>293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and Its Methods</dc:title>
  <dc:subject>PptxGenJS Presentation</dc:subject>
  <dc:creator>PptxGenJS</dc:creator>
  <cp:lastModifiedBy>Srajan shukla</cp:lastModifiedBy>
  <cp:revision>5</cp:revision>
  <dcterms:created xsi:type="dcterms:W3CDTF">2026-04-01T03:01:49Z</dcterms:created>
  <dcterms:modified xsi:type="dcterms:W3CDTF">2026-04-01T03:17:49Z</dcterms:modified>
</cp:coreProperties>
</file>