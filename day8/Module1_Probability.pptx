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949A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926080" cy="2926080"/>
          </a:xfrm>
          <a:prstGeom prst="ellipse">
            <a:avLst/>
          </a:prstGeom>
          <a:solidFill>
            <a:srgbClr val="00897B">
              <a:alpha val="35000"/>
            </a:srgbClr>
          </a:solidFill>
          <a:ln w="12700">
            <a:solidFill>
              <a:srgbClr val="00897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01168" cy="21945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chance, events &amp; sample spaces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97764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977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97764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977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Probability?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means the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an event happening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Tells how likely something will occur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always between </a:t>
            </a:r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and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749040" cy="109728"/>
          </a:xfrm>
          <a:prstGeom prst="rect">
            <a:avLst/>
          </a:prstGeom>
          <a:solidFill>
            <a:srgbClr val="C5CAE9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7919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679192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5928" y="2679192"/>
            <a:ext cx="274320" cy="2743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76272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298448"/>
            <a:ext cx="374904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298448"/>
            <a:ext cx="73152" cy="7772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3350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Sun rising tomorrow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06640" y="135331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892040" y="2304288"/>
            <a:ext cx="374904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304288"/>
            <a:ext cx="7315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3408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Getting 7 on a dice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06640" y="23591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892040" y="3310128"/>
            <a:ext cx="374904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310128"/>
            <a:ext cx="73152" cy="777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346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Getting Head on coin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06640" y="336499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Random Experiment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 where the result is not known in advance is called a Random Experiment.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73152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🪙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Tossing a Coin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H or 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920240"/>
            <a:ext cx="73152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32120" y="204825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 Dice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1 to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37560"/>
            <a:ext cx="73152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Card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deck of 52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3375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37560"/>
            <a:ext cx="73152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32120" y="34655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Student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class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Sample Space (S)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713232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04672"/>
            <a:ext cx="73152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0467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 = All possible outcomes of an experiment, denoted by 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265176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373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Toss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2286000"/>
            <a:ext cx="914400" cy="9144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 H, T 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6120" y="173736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737360"/>
            <a:ext cx="2651760" cy="40233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7373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2286000"/>
            <a:ext cx="914400" cy="91440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33756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 1, 2, 3, 4, 5, 6 }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737360"/>
            <a:ext cx="2651760" cy="40233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7373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Coin Toss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95160" y="2286000"/>
            <a:ext cx="914400" cy="914400"/>
          </a:xfrm>
          <a:prstGeom prst="ellipse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179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 HH, HT, TH, TT }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a subset of the sample space — the outcome(s) we are interested 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4572000" cy="3017520"/>
          </a:xfrm>
          <a:prstGeom prst="rect">
            <a:avLst/>
          </a:prstGeom>
          <a:solidFill>
            <a:srgbClr val="E8EAF6"/>
          </a:solidFill>
          <a:ln w="25400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642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 S = { 1, 2, 3, 4, 5, 6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148840"/>
            <a:ext cx="2743200" cy="2011680"/>
          </a:xfrm>
          <a:prstGeom prst="ellipse">
            <a:avLst/>
          </a:prstGeom>
          <a:solidFill>
            <a:srgbClr val="00897B">
              <a:alpha val="28000"/>
            </a:srgbClr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{2, 4, 6}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60020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600200"/>
            <a:ext cx="34747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600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205740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{1, 2, 3, 4, 5, 6}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 = Getting even number
</a:t>
            </a:r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{ 2, 4, 6 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Types of Events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1554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15544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914400" cy="9144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44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8912" y="25146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outcome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429000"/>
            <a:ext cx="1417320" cy="54864"/>
          </a:xfrm>
          <a:prstGeom prst="rect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54787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3 on a dice → {3}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804672"/>
            <a:ext cx="1554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48840" y="804672"/>
            <a:ext cx="155448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804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1444752"/>
            <a:ext cx="914400" cy="9144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444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221992" y="25146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outcome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21992" y="3429000"/>
            <a:ext cx="1417320" cy="54864"/>
          </a:xfrm>
          <a:prstGeom prst="rect">
            <a:avLst/>
          </a:prstGeom>
          <a:solidFill>
            <a:srgbClr val="00897B">
              <a:alpha val="5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21992" y="354787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even → {2,4,6}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0" y="804672"/>
            <a:ext cx="1554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804672"/>
            <a:ext cx="15544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804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51960" y="1444752"/>
            <a:ext cx="914400" cy="914400"/>
          </a:xfrm>
          <a:prstGeom prst="ellipse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444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005072" y="25146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happens. P = 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05072" y="3429000"/>
            <a:ext cx="1417320" cy="54864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354787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number ≤ 6 on dice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804672"/>
            <a:ext cx="1554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15000" y="804672"/>
            <a:ext cx="155448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804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1444752"/>
            <a:ext cx="914400" cy="914400"/>
          </a:xfrm>
          <a:prstGeom prst="ellipse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444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788152" y="25146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happens. P = 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88152" y="3429000"/>
            <a:ext cx="1417320" cy="54864"/>
          </a:xfrm>
          <a:prstGeom prst="rect">
            <a:avLst/>
          </a:prstGeom>
          <a:solidFill>
            <a:srgbClr val="C62828">
              <a:alpha val="50000"/>
            </a:srgbClr>
          </a:solidFill>
          <a:ln w="12700">
            <a:solidFill>
              <a:srgbClr val="C62828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8152" y="354787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8 on a dice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804672"/>
            <a:ext cx="1554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804672"/>
            <a:ext cx="155448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804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18120" y="1444752"/>
            <a:ext cx="914400" cy="914400"/>
          </a:xfrm>
          <a:prstGeom prst="ellipse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1444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571232" y="25146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P(A') = 1 − P(A)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1232" y="3429000"/>
            <a:ext cx="1417320" cy="54864"/>
          </a:xfrm>
          <a:prstGeom prst="rect">
            <a:avLst/>
          </a:prstGeom>
          <a:solidFill>
            <a:srgbClr val="6A1B9A">
              <a:alpha val="50000"/>
            </a:srgbClr>
          </a:solidFill>
          <a:ln w="12700">
            <a:solidFill>
              <a:srgbClr val="6A1B9A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1232" y="354787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P(Tail) = 1 − 0.5 = 0.5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Probability Formula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822960"/>
            <a:ext cx="585216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8229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 =  Favorable Outcomes  ÷  Total Outcomes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40233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Example 1 – Dice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getting even number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outcomes = {2, 4, 6} = 3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outcomes = 6
</a:t>
            </a:r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3/6 = 0.5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20240"/>
            <a:ext cx="4023360" cy="3657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Example 2 – Coin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39572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getting Head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outcomes = {H} = 1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outcomes = 2
</a:t>
            </a:r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1/2 = 0.5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&amp; 8. Classical vs Empirical Probability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Classical Probability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all outcomes are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likely
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Favorable ÷ Total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→ P(Heart)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cards = 52, Hearts = 13
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13/52 = 0.25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40233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Empirical Probability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experiment data
</a:t>
            </a:r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Times event happened ÷ Total trials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tossed 10 times,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comes 6 times
</a:t>
            </a:r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6/10 = 0.6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Axioms of Probability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Kolmogorov's 3 Fundamental Rules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265176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1920240"/>
            <a:ext cx="914400" cy="9144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≥ 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can never be negative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2468880" cy="54864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P(Head) = 0.5 ≥ 0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32588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325880"/>
            <a:ext cx="265176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3258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1920240"/>
            <a:ext cx="914400" cy="9144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≤ 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7560" y="2999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can never exceed 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950208"/>
            <a:ext cx="2468880" cy="54864"/>
          </a:xfrm>
          <a:prstGeom prst="rect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P(Head) = 0.5 ≤ 1 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32588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325880"/>
            <a:ext cx="2651760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3258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95160" y="1920240"/>
            <a:ext cx="914400" cy="914400"/>
          </a:xfrm>
          <a:prstGeom prst="ellipse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P(S) = 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2999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401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probabilities equals 1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3950208"/>
            <a:ext cx="2468880" cy="54864"/>
          </a:xfrm>
          <a:prstGeom prst="rect">
            <a:avLst/>
          </a:prstGeom>
          <a:solidFill>
            <a:srgbClr val="6A1B9A">
              <a:alpha val="40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+ P(T) = 0.5 + 0.5 = 1 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Addition Rule of Probability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Basics of Probability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happen at the same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764792"/>
            <a:ext cx="374904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P(A∪B) = P(A) + P(B)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(Dice):
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getting 2, B = getting 5
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1/6,  P(B) = 1/6
</a:t>
            </a:r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P(A∪B) = 1/6 + 1/6 = 2/6 = 1/3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402336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Mutually Exclusive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happen at the same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764792"/>
            <a:ext cx="374904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P(A∪B) = P(A) + P(B) − P(A∩B)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237744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(Cards):
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Heart, B = King
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13/52,  P(B) = 4/52
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P(A∩B) = 1/52  (King of Heart)
</a:t>
            </a:r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P(A∪B) = 13/52 + 4/52 − 1/52 = 16/52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3949AB">
              <a:alpha val="40000"/>
            </a:srgbClr>
          </a:solidFill>
          <a:ln w="12700">
            <a:solidFill>
              <a:srgbClr val="3949A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897B">
              <a:alpha val="32000"/>
            </a:srgbClr>
          </a:solidFill>
          <a:ln w="12700">
            <a:solidFill>
              <a:srgbClr val="00897B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36576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is Probability  (0 to 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933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Random Experiment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43784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437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Sample Space (S)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94176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Events &amp; Their Types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143000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Probability Formula: P(A) = Favorable / Total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1993392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993392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9933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Classical &amp; Empirical Probability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2843784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843784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8437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Axioms of Probability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0" y="3694176"/>
            <a:ext cx="4114800" cy="685800"/>
          </a:xfrm>
          <a:prstGeom prst="rect">
            <a:avLst/>
          </a:prstGeom>
          <a:solidFill>
            <a:srgbClr val="3949AB">
              <a:alpha val="45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694176"/>
            <a:ext cx="73152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69417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Addition Rule (Mutually Exclusive &amp; Not)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– Basics of Probability</dc:title>
  <dc:subject>PptxGenJS Presentation</dc:subject>
  <dc:creator>PptxGenJS</dc:creator>
  <cp:lastModifiedBy>PptxGenJS</cp:lastModifiedBy>
  <cp:revision>1</cp:revision>
  <dcterms:created xsi:type="dcterms:W3CDTF">2026-04-01T15:53:01Z</dcterms:created>
  <dcterms:modified xsi:type="dcterms:W3CDTF">2026-04-01T15:53:01Z</dcterms:modified>
</cp:coreProperties>
</file>