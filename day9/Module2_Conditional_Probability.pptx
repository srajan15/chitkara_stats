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E4DB3">
              <a:alpha val="40000"/>
            </a:srgbClr>
          </a:solidFill>
          <a:ln w="12700">
            <a:solidFill>
              <a:srgbClr val="2E4DB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560320" cy="2560320"/>
          </a:xfrm>
          <a:prstGeom prst="ellipse">
            <a:avLst/>
          </a:prstGeom>
          <a:solidFill>
            <a:srgbClr val="4A90D9">
              <a:alpha val="50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E4DB3"/>
          </a:solidFill>
          <a:ln w="12700">
            <a:solidFill>
              <a:srgbClr val="2E4D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3474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probability changes when additional information is known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Probability &amp; Statistics  •  Bayes' Theorem  •  Law of Total Probability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Topics Covered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261872"/>
            <a:ext cx="384048" cy="38404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8408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Conditional Probability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5361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P(A|B) — probability given information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31720"/>
            <a:ext cx="64008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587752"/>
            <a:ext cx="384048" cy="38404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8408" y="2496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Multiplication Rule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28620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Finding P(A ∩ B) for joint events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57600"/>
            <a:ext cx="64008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913632"/>
            <a:ext cx="384048" cy="38404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8408" y="3822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Independent Events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41879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When one event doesn't affect another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64008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1261872"/>
            <a:ext cx="384048" cy="38404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13248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Dependent Events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15361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When events influence each other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331720"/>
            <a:ext cx="64008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2587752"/>
            <a:ext cx="384048" cy="38404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13248" y="2496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Law of Total Probability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28620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Combining multiple pathways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57600"/>
            <a:ext cx="64008" cy="11430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913632"/>
            <a:ext cx="384048" cy="38404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13248" y="3822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Bayes' Theorem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13248" y="41879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Reverse probability — cause from result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 Conditional Probability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868680"/>
          </a:xfrm>
          <a:prstGeom prst="rect">
            <a:avLst/>
          </a:prstGeom>
          <a:solidFill>
            <a:srgbClr val="D6E8F7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B"/>
                </a:solidFill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Probability of event A occurring 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given that event B has already occurred.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3931920" cy="14630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Formula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P(A | B)  =  P(A ∩ B)  ÷  P(B)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"Probability of A given B"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96596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965960"/>
            <a:ext cx="438912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65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🃏  Example – Card Deck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359152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card is drawn. It is known to be red.
Find probability it is a Heart.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 cards = 26   |   Hearts = 13
</a:t>
            </a:r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P(Heart | Red) = 13 ÷ 26 = 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850392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💡  Key Insight: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Conditional probability REDUCES the sample space. When we know B has occurred, we only consider outcomes within B, not the entire sample space.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 Multiplication Rule of Probability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Used to find the probability of TWO events occurring together (joint probability)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6858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P(A ∩ B)  =  P(A)  ×  P(B | A)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8503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40280"/>
            <a:ext cx="850392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Example: Bag with 3 Red + 2 Blue Balls — Draw 2 without replacement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2606040" cy="178308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24912"/>
            <a:ext cx="2606040" cy="3200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8152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P(1st ball is Red) = 3 / 5 = 0.60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724912"/>
            <a:ext cx="2606040" cy="178308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724912"/>
            <a:ext cx="2606040" cy="320040"/>
          </a:xfrm>
          <a:prstGeom prst="rect">
            <a:avLst/>
          </a:prstGeom>
          <a:solidFill>
            <a:srgbClr val="2E4DB3"/>
          </a:solidFill>
          <a:ln w="12700">
            <a:solidFill>
              <a:srgbClr val="2E4D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724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08152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Remove 1 red → Remaining: 2 red, 4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P(2nd Red | 1st Red) = 2 / 4 = 0.50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724912"/>
            <a:ext cx="2606040" cy="1783080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724912"/>
            <a:ext cx="260604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724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08152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P(Both Red) = 0.60 × 0.50 = 0.30  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&amp; 04   Independent vs Dependent Events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1605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Independent Events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One event does NOT affect the other.
</a:t>
            </a:r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</a:rPr>
              <a:t>Formula:
</a:t>
            </a:r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P(A ∩ B) = P(A) × P(B)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Example: Toss a coin + Roll a dice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P(Head) = 1/2
P(Getting 4) = 1/6
</a:t>
            </a:r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</a:rPr>
              <a:t>P(Head AND 4) = 1/2 × 1/6 = 1/12 ≈ 0.083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6052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🔗  Dependent Events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One event DOES affect the other.
</a:t>
            </a:r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</a:rPr>
              <a:t>Formula:
</a:t>
            </a:r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P(A ∩ B) = P(A) × P(B|A)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Example: Bag with 4 Green + 3 Yellow
Draw 2 without replacement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P(1st Green) = 4/7
After removal: 3 green, 6 total
P(2nd Green | 1st Green) = 3/6
</a:t>
            </a:r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</a:rPr>
              <a:t>P(Both Green) = 4/7 × 3/6 = 12/42 = 2/7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 Law of Total Probability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Used when an event can happen through MULTIPLE different pathways or causes.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P(A) = P(A|B₁)·P(B₁) + P(A|B₂)·P(B₂) + 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8503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57400"/>
            <a:ext cx="850392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🏭  Factory Example — Finding Probability of a Defective Product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657600" cy="1143000"/>
          </a:xfrm>
          <a:prstGeom prst="rect">
            <a:avLst/>
          </a:prstGeom>
          <a:solidFill>
            <a:srgbClr val="D6E8F7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8775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Machine 1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Produces: 60% of output
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Defect Rate: 2%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2542032"/>
            <a:ext cx="3657600" cy="11430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58775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</a:rPr>
              <a:t>Machine 2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Produces: 40% of output
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Defect Rate: 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P(Defect) = (0.02 × 0.60) + (0.05 × 0.40)  =  0.012 + 0.020  =  </a:t>
            </a:r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0.032  =  3.2%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 Bayes' Theorem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Used to find REVERSE probability — determining the cause given the observed result.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8503920" cy="68580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P(A | B)  =  P(B | A) × P(A)  ÷  P(B)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4251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48840"/>
            <a:ext cx="425196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🏥  Medical Test 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977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</a:rPr>
              <a:t>Given Information: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1% of people have the disease  →  P(D) = 0.01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Test accuracy (sensitivity) = 90%  →  P(+|D) = 0.90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• False positive rate = 10%  →  P(+|No D) = 0.10
</a:t>
            </a:r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</a:rPr>
              <a:t>Question: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If test is positive, what is actual probability of having disease?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14884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48840"/>
            <a:ext cx="4114800" cy="3657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 Calculation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Numerator: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0.90 × 0.01 = 0.009
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Denominator: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(0.90 × 0.01) + (0.10 × 0.99)
= 0.009 + 0.099 = 0.108
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P(Disease | Positive) = 0.009 / 0.108
</a:t>
            </a:r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≈  8.3%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4DB3">
              <a:alpha val="30000"/>
            </a:srgbClr>
          </a:solidFill>
          <a:ln w="12700">
            <a:solidFill>
              <a:srgbClr val="2E4DB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Counterintuitive 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Why Bayes' Theorem matters in real life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2194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Naive Thinking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test is 90% accurate.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If I test positive, I have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90% chance of having disease.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18288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90%?  WRONG!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2194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Bayesian Thinking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Disease is rare (1% prevalence).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False positives are common.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Actual chance is only 8.3%.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3017520"/>
            <a:ext cx="18288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8.3%  Correct!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📌  Prior probability (prevalence) matters enormously.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test's accuracy alone cannot tell you the true probability — you must account for how common the condition is.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Quick Reference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" y="914400"/>
            <a:ext cx="1828800" cy="530352"/>
          </a:xfrm>
          <a:prstGeom prst="rect">
            <a:avLst/>
          </a:prstGeom>
          <a:solidFill>
            <a:srgbClr val="1B2A6B"/>
          </a:solidFill>
          <a:ln w="6350">
            <a:solidFill>
              <a:srgbClr val="1B2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914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914400"/>
            <a:ext cx="2103120" cy="530352"/>
          </a:xfrm>
          <a:prstGeom prst="rect">
            <a:avLst/>
          </a:prstGeom>
          <a:solidFill>
            <a:srgbClr val="1B2A6B"/>
          </a:solidFill>
          <a:ln w="635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9144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2560320" cy="530352"/>
          </a:xfrm>
          <a:prstGeom prst="rect">
            <a:avLst/>
          </a:prstGeom>
          <a:solidFill>
            <a:srgbClr val="1B2A6B"/>
          </a:solidFill>
          <a:ln w="6350">
            <a:solidFill>
              <a:srgbClr val="1B2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9144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Formula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1920240" cy="530352"/>
          </a:xfrm>
          <a:prstGeom prst="rect">
            <a:avLst/>
          </a:prstGeom>
          <a:solidFill>
            <a:srgbClr val="1B2A6B"/>
          </a:solidFill>
          <a:ln w="635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9144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When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" y="1444752"/>
            <a:ext cx="182880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4447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6B"/>
                </a:solidFill>
              </a:rPr>
              <a:t>Conditional Probability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1444752"/>
            <a:ext cx="210312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14447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P(A) changes when B is known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1444752"/>
            <a:ext cx="256032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444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P(A|B) = P(A∩B) / P(B)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1444752"/>
            <a:ext cx="192024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4447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Extra info is given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" y="1975104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9751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6B"/>
                </a:solidFill>
              </a:rPr>
              <a:t>Multiplication Rule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1975104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19751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Joint probability of two events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1975104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9751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P(A∩B) = P(A) × P(B|A)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1975104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9751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Finding P(A and B)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" y="2505456"/>
            <a:ext cx="182880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25054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6B"/>
                </a:solidFill>
              </a:rPr>
              <a:t>Independent Events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2505456"/>
            <a:ext cx="210312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25054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Events don't influence each other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2505456"/>
            <a:ext cx="256032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25054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P(A∩B) = P(A) × P(B)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2505456"/>
            <a:ext cx="192024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25054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Coin + dice, etc.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" y="3035808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30358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6B"/>
                </a:solidFill>
              </a:rPr>
              <a:t>Dependent Events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20240" y="3035808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30358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First event changes second's probability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23360" y="3035808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69080" y="30358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P(A∩B) = P(A) × P(B|A)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3035808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30358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Without replacement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" y="3566160"/>
            <a:ext cx="182880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35661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6B"/>
                </a:solidFill>
              </a:rPr>
              <a:t>Law of Total Probability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20240" y="3566160"/>
            <a:ext cx="210312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35661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Event occurs via multiple paths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23360" y="3566160"/>
            <a:ext cx="256032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35661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P(A) = Σ P(A|Bᵢ)·P(Bᵢ)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3566160"/>
            <a:ext cx="1920240" cy="530352"/>
          </a:xfrm>
          <a:prstGeom prst="rect">
            <a:avLst/>
          </a:prstGeom>
          <a:solidFill>
            <a:srgbClr val="D6E8F7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35661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Multiple causes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1440" y="4096512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0965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6B"/>
                </a:solidFill>
              </a:rPr>
              <a:t>Bayes' Theorem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20240" y="4096512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65960" y="40965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Reverse probability (cause from result)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023360" y="4096512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69080" y="4096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P(A|B) = P(B|A)·P(A)/P(B)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583680" y="4096512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9400" y="40965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Updating beliefs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2E4DB3">
              <a:alpha val="25000"/>
            </a:srgbClr>
          </a:solidFill>
          <a:ln w="12700">
            <a:solidFill>
              <a:srgbClr val="2E4DB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Module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2148840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331720"/>
            <a:ext cx="384048" cy="38404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22199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Conditional probability narrows the sample space based on known information.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035808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3218688"/>
            <a:ext cx="384048" cy="38404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The Multiplication Rule connects joint and conditional probabilities.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922776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4105656"/>
            <a:ext cx="384048" cy="38404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99592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Independence means P(A∩B) = P(A)×P(B) — a powerful simplification.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2148840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6048" y="2331720"/>
            <a:ext cx="384048" cy="38404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22199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The Law of Total Probability sums all paths that lead to an event.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3035808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3218688"/>
            <a:ext cx="384048" cy="38404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31089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Bayes' Theorem is used to reverse engineer probability — result to cause.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922776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56048" y="4105656"/>
            <a:ext cx="384048" cy="38404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399592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Always factor in prior probability — rare events stay rare even after a positive test.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– Conditional Probability</dc:title>
  <dc:subject>PptxGenJS Presentation</dc:subject>
  <dc:creator>PptxGenJS</dc:creator>
  <cp:lastModifiedBy>PptxGenJS</cp:lastModifiedBy>
  <cp:revision>1</cp:revision>
  <dcterms:created xsi:type="dcterms:W3CDTF">2026-04-01T22:01:42Z</dcterms:created>
  <dcterms:modified xsi:type="dcterms:W3CDTF">2026-04-01T22:01:42Z</dcterms:modified>
</cp:coreProperties>
</file>